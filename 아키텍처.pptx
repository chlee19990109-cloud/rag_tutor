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FFFF"/>
    <a:srgbClr val="4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A8AA75-5B4D-466B-8A77-0C50B47F7A7A}" type="datetimeFigureOut">
              <a:rPr lang="ko-KR" altLang="en-US" smtClean="0"/>
              <a:t>2026-04-11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1FB28-A4C7-421E-ADF1-58A3CAF624E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626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D5CA2-6EDD-4E39-8CF3-284CC37C4ADB}" type="datetimeFigureOut">
              <a:rPr lang="ko-KR" altLang="en-US" smtClean="0"/>
              <a:t>2026-04-11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27F1D-545B-4307-8951-A802CA04C9F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1202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D5CA2-6EDD-4E39-8CF3-284CC37C4ADB}" type="datetimeFigureOut">
              <a:rPr lang="ko-KR" altLang="en-US" smtClean="0"/>
              <a:t>2026-04-11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27F1D-545B-4307-8951-A802CA04C9F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58220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D5CA2-6EDD-4E39-8CF3-284CC37C4ADB}" type="datetimeFigureOut">
              <a:rPr lang="ko-KR" altLang="en-US" smtClean="0"/>
              <a:t>2026-04-11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27F1D-545B-4307-8951-A802CA04C9F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1282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D5CA2-6EDD-4E39-8CF3-284CC37C4ADB}" type="datetimeFigureOut">
              <a:rPr lang="ko-KR" altLang="en-US" smtClean="0"/>
              <a:t>2026-04-11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27F1D-545B-4307-8951-A802CA04C9F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0420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D5CA2-6EDD-4E39-8CF3-284CC37C4ADB}" type="datetimeFigureOut">
              <a:rPr lang="ko-KR" altLang="en-US" smtClean="0"/>
              <a:t>2026-04-11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27F1D-545B-4307-8951-A802CA04C9F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8337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D5CA2-6EDD-4E39-8CF3-284CC37C4ADB}" type="datetimeFigureOut">
              <a:rPr lang="ko-KR" altLang="en-US" smtClean="0"/>
              <a:t>2026-04-11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27F1D-545B-4307-8951-A802CA04C9F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558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D5CA2-6EDD-4E39-8CF3-284CC37C4ADB}" type="datetimeFigureOut">
              <a:rPr lang="ko-KR" altLang="en-US" smtClean="0"/>
              <a:t>2026-04-11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27F1D-545B-4307-8951-A802CA04C9F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1947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D5CA2-6EDD-4E39-8CF3-284CC37C4ADB}" type="datetimeFigureOut">
              <a:rPr lang="ko-KR" altLang="en-US" smtClean="0"/>
              <a:t>2026-04-11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27F1D-545B-4307-8951-A802CA04C9F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585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D5CA2-6EDD-4E39-8CF3-284CC37C4ADB}" type="datetimeFigureOut">
              <a:rPr lang="ko-KR" altLang="en-US" smtClean="0"/>
              <a:t>2026-04-11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27F1D-545B-4307-8951-A802CA04C9F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89490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D5CA2-6EDD-4E39-8CF3-284CC37C4ADB}" type="datetimeFigureOut">
              <a:rPr lang="ko-KR" altLang="en-US" smtClean="0"/>
              <a:t>2026-04-11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27F1D-545B-4307-8951-A802CA04C9F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8373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D5CA2-6EDD-4E39-8CF3-284CC37C4ADB}" type="datetimeFigureOut">
              <a:rPr lang="ko-KR" altLang="en-US" smtClean="0"/>
              <a:t>2026-04-11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27F1D-545B-4307-8951-A802CA04C9F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561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D5CA2-6EDD-4E39-8CF3-284CC37C4ADB}" type="datetimeFigureOut">
              <a:rPr lang="ko-KR" altLang="en-US" smtClean="0"/>
              <a:t>2026-04-11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527F1D-545B-4307-8951-A802CA04C9F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0768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그룹 24"/>
          <p:cNvGrpSpPr/>
          <p:nvPr/>
        </p:nvGrpSpPr>
        <p:grpSpPr>
          <a:xfrm>
            <a:off x="100668" y="55670"/>
            <a:ext cx="11962701" cy="6734018"/>
            <a:chOff x="218114" y="47281"/>
            <a:chExt cx="11962701" cy="6734018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58349" y="72919"/>
              <a:ext cx="10800000" cy="6435826"/>
            </a:xfrm>
            <a:prstGeom prst="rect">
              <a:avLst/>
            </a:prstGeom>
          </p:spPr>
        </p:pic>
        <p:sp>
          <p:nvSpPr>
            <p:cNvPr id="6" name="직사각형 5"/>
            <p:cNvSpPr/>
            <p:nvPr/>
          </p:nvSpPr>
          <p:spPr>
            <a:xfrm>
              <a:off x="1449969" y="5519956"/>
              <a:ext cx="721453" cy="1845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000" b="1" dirty="0" smtClean="0">
                  <a:solidFill>
                    <a:schemeClr val="tx1"/>
                  </a:solidFill>
                </a:rPr>
                <a:t>교수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2290266" y="4772780"/>
              <a:ext cx="662658" cy="3361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000" b="1" dirty="0" smtClean="0">
                  <a:solidFill>
                    <a:schemeClr val="tx1"/>
                  </a:solidFill>
                </a:rPr>
                <a:t>학습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pPr algn="ctr" latinLnBrk="0"/>
              <a:r>
                <a:rPr lang="ko-KR" altLang="en-US" sz="1000" b="1" dirty="0" smtClean="0">
                  <a:solidFill>
                    <a:schemeClr val="tx1"/>
                  </a:solidFill>
                </a:rPr>
                <a:t>자료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3129168" y="4568317"/>
              <a:ext cx="741662" cy="2044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000" b="1" dirty="0" smtClean="0">
                  <a:solidFill>
                    <a:schemeClr val="tx1"/>
                  </a:solidFill>
                </a:rPr>
                <a:t>텍스트북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2952924" y="5436299"/>
              <a:ext cx="1022056" cy="2044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000" b="1" dirty="0" smtClean="0">
                  <a:solidFill>
                    <a:schemeClr val="tx1"/>
                  </a:solidFill>
                </a:rPr>
                <a:t>강의 슬라이드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2952924" y="6312670"/>
              <a:ext cx="872456" cy="3733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000" b="1" dirty="0" smtClean="0">
                  <a:solidFill>
                    <a:schemeClr val="tx1"/>
                  </a:solidFill>
                </a:rPr>
                <a:t>강의 계획서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pPr algn="ctr" latinLnBrk="0"/>
              <a:r>
                <a:rPr lang="en-US" altLang="ko-KR" sz="1000" b="1" dirty="0" smtClean="0">
                  <a:solidFill>
                    <a:schemeClr val="tx1"/>
                  </a:solidFill>
                </a:rPr>
                <a:t>(Syllabus)</a:t>
              </a: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4531450" y="4698944"/>
              <a:ext cx="947958" cy="3444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000" b="1" dirty="0" smtClean="0">
                  <a:solidFill>
                    <a:schemeClr val="tx1"/>
                  </a:solidFill>
                </a:rPr>
                <a:t>텍스트 로딩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pPr algn="ctr" latinLnBrk="0"/>
              <a:r>
                <a:rPr lang="en-US" altLang="ko-KR" sz="1000" b="1" dirty="0" smtClean="0">
                  <a:solidFill>
                    <a:schemeClr val="tx1"/>
                  </a:solidFill>
                </a:rPr>
                <a:t>(Text Loader)</a:t>
              </a: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5610128" y="4698944"/>
              <a:ext cx="1016473" cy="3444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000" b="1" dirty="0" smtClean="0">
                  <a:solidFill>
                    <a:schemeClr val="tx1"/>
                  </a:solidFill>
                </a:rPr>
                <a:t>텍스트 분할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pPr algn="ctr" latinLnBrk="0"/>
              <a:r>
                <a:rPr lang="en-US" altLang="ko-KR" sz="1000" b="1" dirty="0" smtClean="0">
                  <a:solidFill>
                    <a:schemeClr val="tx1"/>
                  </a:solidFill>
                </a:rPr>
                <a:t>(Text Splitter)</a:t>
              </a: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6536423" y="4698944"/>
              <a:ext cx="1642843" cy="3444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000" b="1" dirty="0" smtClean="0">
                  <a:solidFill>
                    <a:schemeClr val="tx1"/>
                  </a:solidFill>
                </a:rPr>
                <a:t>임베딩 및 인덱싱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pPr algn="ctr" latinLnBrk="0"/>
              <a:r>
                <a:rPr lang="en-US" altLang="ko-KR" sz="1000" b="1" dirty="0" smtClean="0">
                  <a:solidFill>
                    <a:schemeClr val="tx1"/>
                  </a:solidFill>
                </a:rPr>
                <a:t>(Embedding &amp; Indexing)</a:t>
              </a: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0402349" y="5009849"/>
              <a:ext cx="1409350" cy="3444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r>
                <a:rPr lang="en-US" altLang="ko-KR" sz="1000" dirty="0" smtClean="0">
                  <a:solidFill>
                    <a:srgbClr val="FF0000"/>
                  </a:solidFill>
                </a:rPr>
                <a:t>“</a:t>
              </a:r>
              <a:r>
                <a:rPr lang="ko-KR" altLang="en-US" sz="1000" dirty="0" smtClean="0">
                  <a:solidFill>
                    <a:srgbClr val="FF0000"/>
                  </a:solidFill>
                </a:rPr>
                <a:t>촉각의 전달 경로는 무엇인가요</a:t>
              </a:r>
              <a:r>
                <a:rPr lang="en-US" altLang="ko-KR" sz="1000" dirty="0" smtClean="0">
                  <a:solidFill>
                    <a:srgbClr val="FF0000"/>
                  </a:solidFill>
                </a:rPr>
                <a:t>?”</a:t>
              </a: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8122208" y="4698943"/>
              <a:ext cx="1178941" cy="3444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000" b="1" dirty="0" smtClean="0">
                  <a:solidFill>
                    <a:schemeClr val="tx1"/>
                  </a:solidFill>
                </a:rPr>
                <a:t>벡터 저장소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pPr algn="ctr" latinLnBrk="0"/>
              <a:r>
                <a:rPr lang="en-US" altLang="ko-KR" sz="1000" b="1" dirty="0" smtClean="0">
                  <a:solidFill>
                    <a:schemeClr val="tx1"/>
                  </a:solidFill>
                </a:rPr>
                <a:t>(Vector Storage)</a:t>
              </a: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6543110" y="6188715"/>
              <a:ext cx="1588030" cy="5133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000" b="1" dirty="0" smtClean="0">
                  <a:solidFill>
                    <a:schemeClr val="tx1"/>
                  </a:solidFill>
                </a:rPr>
                <a:t>임베딩 모델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pPr algn="ctr" latinLnBrk="0"/>
              <a:r>
                <a:rPr lang="en-US" altLang="ko-KR" sz="1000" b="1" dirty="0" smtClean="0">
                  <a:solidFill>
                    <a:schemeClr val="tx1"/>
                  </a:solidFill>
                </a:rPr>
                <a:t>(Embedding Model)</a:t>
              </a:r>
            </a:p>
            <a:p>
              <a:pPr algn="ctr" latinLnBrk="0"/>
              <a:r>
                <a:rPr lang="en-US" altLang="ko-KR" sz="1000" b="1" dirty="0" smtClean="0">
                  <a:solidFill>
                    <a:schemeClr val="tx1"/>
                  </a:solidFill>
                </a:rPr>
                <a:t>=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벡터화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(Vectorization)</a:t>
              </a: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9519263" y="4127383"/>
              <a:ext cx="741662" cy="2044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000" b="1" dirty="0" smtClean="0">
                  <a:solidFill>
                    <a:schemeClr val="tx1"/>
                  </a:solidFill>
                </a:rPr>
                <a:t>질문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6832467" y="3552895"/>
              <a:ext cx="2364338" cy="1466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000" b="1" dirty="0" smtClean="0">
                  <a:solidFill>
                    <a:schemeClr val="tx1"/>
                  </a:solidFill>
                </a:rPr>
                <a:t>프롬프트 어셈블리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(Prompt Assembly)</a:t>
              </a: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1283516" y="1530944"/>
              <a:ext cx="1642849" cy="3444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000" b="1" dirty="0" smtClean="0">
                  <a:solidFill>
                    <a:schemeClr val="tx1"/>
                  </a:solidFill>
                </a:rPr>
                <a:t>생성형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AI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조교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pPr algn="ctr" latinLnBrk="0"/>
              <a:r>
                <a:rPr lang="en-US" altLang="ko-KR" sz="1000" b="1" dirty="0" smtClean="0">
                  <a:solidFill>
                    <a:schemeClr val="tx1"/>
                  </a:solidFill>
                </a:rPr>
                <a:t>(Teaching Assistant, TA)</a:t>
              </a: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9544430" y="1773173"/>
              <a:ext cx="741662" cy="2044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000" b="1" dirty="0" smtClean="0">
                  <a:solidFill>
                    <a:schemeClr val="tx1"/>
                  </a:solidFill>
                </a:rPr>
                <a:t>답변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6373038" y="1139447"/>
              <a:ext cx="984806" cy="3831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000" b="1" dirty="0" smtClean="0">
                  <a:solidFill>
                    <a:schemeClr val="tx1"/>
                  </a:solidFill>
                </a:rPr>
                <a:t>사전 학습</a:t>
              </a:r>
              <a:endParaRPr lang="en-US" altLang="ko-KR" sz="1000" b="1" dirty="0">
                <a:solidFill>
                  <a:schemeClr val="tx1"/>
                </a:solidFill>
              </a:endParaRPr>
            </a:p>
            <a:p>
              <a:pPr algn="ctr" latinLnBrk="0"/>
              <a:r>
                <a:rPr lang="en-US" altLang="ko-KR" sz="1000" b="1" dirty="0" smtClean="0">
                  <a:solidFill>
                    <a:schemeClr val="tx1"/>
                  </a:solidFill>
                </a:rPr>
                <a:t>(Pre-training)</a:t>
              </a: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4473252" y="1825070"/>
              <a:ext cx="1762145" cy="1525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000" b="1" dirty="0" smtClean="0">
                  <a:solidFill>
                    <a:schemeClr val="tx1"/>
                  </a:solidFill>
                </a:rPr>
                <a:t>학습 데이터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(Training data)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18114" y="6442745"/>
              <a:ext cx="27599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0"/>
              <a:r>
                <a:rPr lang="en-US" altLang="ko-KR" sz="1600" b="1" dirty="0" smtClean="0"/>
                <a:t>Fig</a:t>
              </a:r>
              <a:r>
                <a:rPr lang="ko-KR" altLang="en-US" sz="1600" b="1" dirty="0" smtClean="0"/>
                <a:t> </a:t>
              </a:r>
              <a:r>
                <a:rPr lang="en-US" altLang="ko-KR" sz="1600" b="1" dirty="0"/>
                <a:t>1</a:t>
              </a:r>
              <a:r>
                <a:rPr lang="en-US" altLang="ko-KR" sz="1600" b="1" dirty="0" smtClean="0"/>
                <a:t>. </a:t>
              </a:r>
              <a:r>
                <a:rPr lang="ko-KR" altLang="en-US" sz="1600" b="1" dirty="0" smtClean="0"/>
                <a:t>논문 시스템 아키텍처</a:t>
              </a: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3728612" y="4168957"/>
              <a:ext cx="1174459" cy="2044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000" b="1" dirty="0" smtClean="0">
                  <a:solidFill>
                    <a:schemeClr val="tx1"/>
                  </a:solidFill>
                </a:rPr>
                <a:t>입력 문서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: 145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개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32" name="왼쪽 대괄호 31"/>
            <p:cNvSpPr/>
            <p:nvPr/>
          </p:nvSpPr>
          <p:spPr>
            <a:xfrm rot="16200000">
              <a:off x="4929193" y="4737804"/>
              <a:ext cx="134651" cy="767116"/>
            </a:xfrm>
            <a:prstGeom prst="leftBracket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440283" y="5252855"/>
              <a:ext cx="2522219" cy="1277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0"/>
              <a:r>
                <a:rPr lang="ko-KR" altLang="en-US" sz="1100" b="1" dirty="0" smtClean="0">
                  <a:solidFill>
                    <a:srgbClr val="FF0000"/>
                  </a:solidFill>
                </a:rPr>
                <a:t>파싱</a:t>
              </a:r>
              <a:r>
                <a:rPr lang="en-US" altLang="ko-KR" sz="1100" b="1" dirty="0" smtClean="0">
                  <a:solidFill>
                    <a:srgbClr val="FF0000"/>
                  </a:solidFill>
                </a:rPr>
                <a:t>(Parsing)</a:t>
              </a:r>
            </a:p>
            <a:p>
              <a:pPr marL="285750" indent="-285750" latinLnBrk="0">
                <a:buFontTx/>
                <a:buChar char="-"/>
              </a:pPr>
              <a:r>
                <a:rPr lang="ko-KR" altLang="en-US" sz="1100" dirty="0" smtClean="0"/>
                <a:t>데이터 전처리</a:t>
              </a:r>
              <a:endParaRPr lang="en-US" altLang="ko-KR" sz="1100" dirty="0"/>
            </a:p>
            <a:p>
              <a:pPr marL="285750" indent="-285750" latinLnBrk="0">
                <a:buFontTx/>
                <a:buChar char="-"/>
              </a:pPr>
              <a:r>
                <a:rPr lang="ko-KR" altLang="en-US" sz="1100" dirty="0" smtClean="0"/>
                <a:t>문서를 구조화</a:t>
              </a:r>
              <a:endParaRPr lang="en-US" altLang="ko-KR" sz="1100" dirty="0" smtClean="0"/>
            </a:p>
            <a:p>
              <a:pPr marL="285750" indent="-285750" latinLnBrk="0">
                <a:buFontTx/>
                <a:buChar char="-"/>
              </a:pPr>
              <a:r>
                <a:rPr lang="ko-KR" altLang="en-US" sz="1100" dirty="0" smtClean="0"/>
                <a:t>포맷 구조</a:t>
              </a:r>
              <a:r>
                <a:rPr lang="en-US" altLang="ko-KR" sz="1100" dirty="0" smtClean="0"/>
                <a:t>: JSON</a:t>
              </a:r>
              <a:r>
                <a:rPr lang="ko-KR" altLang="en-US" sz="1100" dirty="0" smtClean="0"/>
                <a:t>으로 변환</a:t>
              </a:r>
              <a:endParaRPr lang="en-US" altLang="ko-KR" sz="1100" dirty="0" smtClean="0"/>
            </a:p>
            <a:p>
              <a:pPr latinLnBrk="0"/>
              <a:r>
                <a:rPr lang="en-US" altLang="ko-KR" sz="1100" dirty="0" smtClean="0"/>
                <a:t>&gt;&gt; </a:t>
              </a:r>
              <a:r>
                <a:rPr lang="ko-KR" altLang="en-US" sz="1100" dirty="0" smtClean="0"/>
                <a:t>기계가 처리하기 좋은</a:t>
              </a:r>
              <a:r>
                <a:rPr lang="en-US" altLang="ko-KR" sz="1100" dirty="0"/>
                <a:t> </a:t>
              </a:r>
              <a:r>
                <a:rPr lang="ko-KR" altLang="en-US" sz="1100" dirty="0" smtClean="0"/>
                <a:t>키</a:t>
              </a:r>
              <a:r>
                <a:rPr lang="en-US" altLang="ko-KR" sz="1100" dirty="0" smtClean="0"/>
                <a:t>-</a:t>
              </a:r>
              <a:r>
                <a:rPr lang="ko-KR" altLang="en-US" sz="1100" dirty="0" smtClean="0"/>
                <a:t>값 구조</a:t>
              </a:r>
              <a:endParaRPr lang="en-US" altLang="ko-KR" sz="1100" dirty="0"/>
            </a:p>
            <a:p>
              <a:pPr latinLnBrk="0"/>
              <a:r>
                <a:rPr lang="en-US" altLang="ko-KR" sz="1100" dirty="0" smtClean="0"/>
                <a:t>&gt;&gt; </a:t>
              </a:r>
              <a:r>
                <a:rPr lang="ko-KR" altLang="en-US" sz="1100" dirty="0" smtClean="0"/>
                <a:t>정보의 위치와 의미가 명확</a:t>
              </a:r>
              <a:endParaRPr lang="en-US" altLang="ko-KR" sz="1100" dirty="0" smtClean="0"/>
            </a:p>
            <a:p>
              <a:pPr latinLnBrk="0"/>
              <a:r>
                <a:rPr lang="en-US" altLang="ko-KR" sz="1100" dirty="0" smtClean="0"/>
                <a:t>&gt;&gt; </a:t>
              </a:r>
              <a:r>
                <a:rPr lang="ko-KR" altLang="en-US" sz="1100" dirty="0" smtClean="0"/>
                <a:t>적합 사례</a:t>
              </a:r>
              <a:r>
                <a:rPr lang="en-US" altLang="ko-KR" sz="1100" dirty="0" smtClean="0"/>
                <a:t>: API </a:t>
              </a:r>
              <a:r>
                <a:rPr lang="ko-KR" altLang="en-US" sz="1100" dirty="0" smtClean="0"/>
                <a:t>연동</a:t>
              </a:r>
              <a:r>
                <a:rPr lang="en-US" altLang="ko-KR" sz="1100" dirty="0" smtClean="0"/>
                <a:t>, DB </a:t>
              </a:r>
              <a:r>
                <a:rPr lang="ko-KR" altLang="en-US" sz="1100" dirty="0" smtClean="0"/>
                <a:t>저장</a:t>
              </a:r>
            </a:p>
          </p:txBody>
        </p:sp>
        <p:sp>
          <p:nvSpPr>
            <p:cNvPr id="35" name="왼쪽 대괄호 34"/>
            <p:cNvSpPr/>
            <p:nvPr/>
          </p:nvSpPr>
          <p:spPr>
            <a:xfrm rot="16200000">
              <a:off x="7930540" y="2858303"/>
              <a:ext cx="134652" cy="4526118"/>
            </a:xfrm>
            <a:prstGeom prst="leftBracket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267273" y="5240822"/>
              <a:ext cx="3791076" cy="1277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0"/>
              <a:r>
                <a:rPr lang="ko-KR" altLang="en-US" sz="1100" b="1" dirty="0" smtClean="0">
                  <a:solidFill>
                    <a:srgbClr val="FF0000"/>
                  </a:solidFill>
                </a:rPr>
                <a:t>청킹 및 임베딩</a:t>
              </a:r>
              <a:endParaRPr lang="en-US" altLang="ko-KR" sz="1100" b="1" dirty="0" smtClean="0">
                <a:solidFill>
                  <a:srgbClr val="FF0000"/>
                </a:solidFill>
              </a:endParaRPr>
            </a:p>
            <a:p>
              <a:pPr latinLnBrk="0"/>
              <a:r>
                <a:rPr lang="en-US" altLang="ko-KR" sz="1100" b="1" dirty="0" smtClean="0">
                  <a:solidFill>
                    <a:srgbClr val="FF0000"/>
                  </a:solidFill>
                </a:rPr>
                <a:t>(Chunking &amp; Embedding)</a:t>
              </a:r>
              <a:endParaRPr lang="en-US" altLang="ko-KR" sz="1100" dirty="0"/>
            </a:p>
            <a:p>
              <a:pPr marL="285750" indent="-285750" latinLnBrk="0">
                <a:buFontTx/>
                <a:buChar char="-"/>
              </a:pPr>
              <a:r>
                <a:rPr lang="ko-KR" altLang="en-US" sz="1100" dirty="0" smtClean="0"/>
                <a:t>데이터 전처리</a:t>
              </a:r>
              <a:endParaRPr lang="en-US" altLang="ko-KR" sz="1100" dirty="0" smtClean="0"/>
            </a:p>
            <a:p>
              <a:pPr marL="285750" indent="-285750" latinLnBrk="0">
                <a:buFontTx/>
                <a:buChar char="-"/>
              </a:pPr>
              <a:r>
                <a:rPr lang="ko-KR" altLang="en-US" sz="1100" dirty="0" smtClean="0"/>
                <a:t>청킹</a:t>
              </a:r>
              <a:r>
                <a:rPr lang="en-US" altLang="ko-KR" sz="1100" dirty="0" smtClean="0"/>
                <a:t>: </a:t>
              </a:r>
              <a:r>
                <a:rPr lang="ko-KR" altLang="en-US" sz="1100" dirty="0" smtClean="0"/>
                <a:t>문서를 </a:t>
              </a:r>
              <a:r>
                <a:rPr lang="en-US" altLang="ko-KR" sz="1100" dirty="0" smtClean="0"/>
                <a:t>LLM</a:t>
              </a:r>
              <a:r>
                <a:rPr lang="ko-KR" altLang="en-US" sz="1100" dirty="0" smtClean="0"/>
                <a:t>이 처리 가능한 일정 단위로 분할</a:t>
              </a:r>
              <a:endParaRPr lang="en-US" altLang="ko-KR" sz="1100" dirty="0" smtClean="0"/>
            </a:p>
            <a:p>
              <a:pPr marL="285750" indent="-285750" latinLnBrk="0">
                <a:buFontTx/>
                <a:buChar char="-"/>
              </a:pPr>
              <a:r>
                <a:rPr lang="ko-KR" altLang="en-US" sz="1100" dirty="0"/>
                <a:t>의미 기반 분리</a:t>
              </a:r>
              <a:r>
                <a:rPr lang="en-US" altLang="ko-KR" sz="1100" dirty="0"/>
                <a:t>(semantic</a:t>
              </a:r>
              <a:r>
                <a:rPr lang="ko-KR" altLang="en-US" sz="1100" dirty="0"/>
                <a:t> </a:t>
              </a:r>
              <a:r>
                <a:rPr lang="en-US" altLang="ko-KR" sz="1100" dirty="0"/>
                <a:t>chunking): </a:t>
              </a:r>
              <a:r>
                <a:rPr lang="ko-KR" altLang="en-US" sz="1100" dirty="0"/>
                <a:t>문장의 의미적 유사성과 주제 연관성을 고려해 나누는 </a:t>
              </a:r>
              <a:r>
                <a:rPr lang="ko-KR" altLang="en-US" sz="1100" dirty="0" smtClean="0"/>
                <a:t>방법</a:t>
              </a:r>
              <a:endParaRPr lang="en-US" altLang="ko-KR" sz="1100" dirty="0" smtClean="0"/>
            </a:p>
            <a:p>
              <a:pPr marL="285750" indent="-285750" latinLnBrk="0">
                <a:buFontTx/>
                <a:buChar char="-"/>
              </a:pPr>
              <a:r>
                <a:rPr lang="ko-KR" altLang="en-US" sz="1100" dirty="0" smtClean="0"/>
                <a:t>임베딩</a:t>
              </a:r>
              <a:r>
                <a:rPr lang="en-US" altLang="ko-KR" sz="1100" dirty="0" smtClean="0"/>
                <a:t>: </a:t>
              </a:r>
              <a:r>
                <a:rPr lang="ko-KR" altLang="en-US" sz="1100" dirty="0" smtClean="0"/>
                <a:t>벡터</a:t>
              </a:r>
              <a:r>
                <a:rPr lang="en-US" altLang="ko-KR" sz="1100" dirty="0" smtClean="0"/>
                <a:t>(</a:t>
              </a:r>
              <a:r>
                <a:rPr lang="ko-KR" altLang="en-US" sz="1100" dirty="0" smtClean="0"/>
                <a:t>숫자 좌표</a:t>
              </a:r>
              <a:r>
                <a:rPr lang="en-US" altLang="ko-KR" sz="1100" dirty="0" smtClean="0"/>
                <a:t>)</a:t>
              </a:r>
              <a:r>
                <a:rPr lang="ko-KR" altLang="en-US" sz="1100" dirty="0" smtClean="0"/>
                <a:t>로 변환해 저장</a:t>
              </a:r>
              <a:endParaRPr lang="en-US" altLang="ko-KR" sz="1100" dirty="0" smtClean="0"/>
            </a:p>
          </p:txBody>
        </p:sp>
        <p:sp>
          <p:nvSpPr>
            <p:cNvPr id="39" name="왼쪽 대괄호 38"/>
            <p:cNvSpPr/>
            <p:nvPr/>
          </p:nvSpPr>
          <p:spPr>
            <a:xfrm rot="10800000">
              <a:off x="9036736" y="2122800"/>
              <a:ext cx="105056" cy="2020030"/>
            </a:xfrm>
            <a:prstGeom prst="leftBracket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099848" y="2067427"/>
              <a:ext cx="2165008" cy="19543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0"/>
              <a:r>
                <a:rPr lang="ko-KR" altLang="en-US" sz="1100" b="1" dirty="0" smtClean="0">
                  <a:solidFill>
                    <a:srgbClr val="FF0000"/>
                  </a:solidFill>
                </a:rPr>
                <a:t>검색</a:t>
              </a:r>
              <a:r>
                <a:rPr lang="en-US" altLang="ko-KR" sz="1100" b="1" dirty="0" smtClean="0">
                  <a:solidFill>
                    <a:srgbClr val="FF0000"/>
                  </a:solidFill>
                </a:rPr>
                <a:t>(Retrieval)</a:t>
              </a:r>
              <a:endParaRPr lang="en-US" altLang="ko-KR" sz="1100" dirty="0"/>
            </a:p>
            <a:p>
              <a:pPr marL="285750" indent="-285750" latinLnBrk="0">
                <a:buFontTx/>
                <a:buChar char="-"/>
              </a:pPr>
              <a:r>
                <a:rPr lang="ko-KR" altLang="en-US" sz="1100" dirty="0" smtClean="0"/>
                <a:t>생성형 </a:t>
              </a:r>
              <a:r>
                <a:rPr lang="en-US" altLang="ko-KR" sz="1100" dirty="0" smtClean="0"/>
                <a:t>AI</a:t>
              </a:r>
              <a:r>
                <a:rPr lang="ko-KR" altLang="en-US" sz="1100" dirty="0" smtClean="0"/>
                <a:t>가 사실</a:t>
              </a:r>
              <a:r>
                <a:rPr lang="en-US" altLang="ko-KR" sz="1100" dirty="0" smtClean="0"/>
                <a:t>(</a:t>
              </a:r>
              <a:r>
                <a:rPr lang="ko-KR" altLang="en-US" sz="1100" dirty="0" smtClean="0"/>
                <a:t>자료</a:t>
              </a:r>
              <a:r>
                <a:rPr lang="en-US" altLang="ko-KR" sz="1100" dirty="0" smtClean="0"/>
                <a:t>)</a:t>
              </a:r>
              <a:r>
                <a:rPr lang="ko-KR" altLang="en-US" sz="1100" dirty="0" smtClean="0"/>
                <a:t>에 근거한 답변을 구성하도록 돕는 안전장치 </a:t>
              </a:r>
              <a:r>
                <a:rPr lang="en-US" altLang="ko-KR" sz="1100" dirty="0" smtClean="0"/>
                <a:t>= </a:t>
              </a:r>
              <a:r>
                <a:rPr lang="ko-KR" altLang="en-US" sz="1100" dirty="0" smtClean="0"/>
                <a:t>사실 기반 품질 게이트</a:t>
              </a:r>
              <a:endParaRPr lang="en-US" altLang="ko-KR" sz="1100" dirty="0" smtClean="0"/>
            </a:p>
            <a:p>
              <a:pPr marL="285750" indent="-285750" latinLnBrk="0">
                <a:buFontTx/>
                <a:buChar char="-"/>
              </a:pPr>
              <a:r>
                <a:rPr lang="ko-KR" altLang="en-US" sz="1100" dirty="0" smtClean="0"/>
                <a:t>벡터 검색</a:t>
              </a:r>
              <a:r>
                <a:rPr lang="en-US" altLang="ko-KR" sz="1100" dirty="0" smtClean="0"/>
                <a:t>: </a:t>
              </a:r>
              <a:r>
                <a:rPr lang="ko-KR" altLang="en-US" sz="1100" dirty="0" smtClean="0"/>
                <a:t>벡터 공간에서 의미적 유사도로 검색</a:t>
              </a:r>
              <a:r>
                <a:rPr lang="en-US" altLang="ko-KR" sz="1100" dirty="0" smtClean="0"/>
                <a:t>, </a:t>
              </a:r>
              <a:r>
                <a:rPr lang="ko-KR" altLang="en-US" sz="1100" dirty="0" smtClean="0"/>
                <a:t>사용자의 질문과 의미적으로 가장 가까운 텍스트를 찾아내는 과정</a:t>
              </a:r>
              <a:endParaRPr lang="en-US" altLang="ko-KR" sz="1100" dirty="0" smtClean="0"/>
            </a:p>
            <a:p>
              <a:pPr marL="285750" indent="-285750" latinLnBrk="0">
                <a:buFontTx/>
                <a:buChar char="-"/>
              </a:pPr>
              <a:r>
                <a:rPr lang="ko-KR" altLang="en-US" sz="1100" dirty="0" smtClean="0"/>
                <a:t>할루시네이션 방지</a:t>
              </a:r>
              <a:endParaRPr lang="en-US" altLang="ko-KR" sz="1100" dirty="0"/>
            </a:p>
          </p:txBody>
        </p:sp>
        <p:sp>
          <p:nvSpPr>
            <p:cNvPr id="41" name="왼쪽 대괄호 40"/>
            <p:cNvSpPr/>
            <p:nvPr/>
          </p:nvSpPr>
          <p:spPr>
            <a:xfrm rot="5400000">
              <a:off x="9823061" y="151208"/>
              <a:ext cx="177539" cy="2722829"/>
            </a:xfrm>
            <a:prstGeom prst="leftBracket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248088" y="108733"/>
              <a:ext cx="4932727" cy="1277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0"/>
              <a:r>
                <a:rPr lang="ko-KR" altLang="en-US" sz="1100" b="1" dirty="0" smtClean="0">
                  <a:solidFill>
                    <a:srgbClr val="FF0000"/>
                  </a:solidFill>
                </a:rPr>
                <a:t>생성</a:t>
              </a:r>
              <a:r>
                <a:rPr lang="en-US" altLang="ko-KR" sz="1100" b="1" dirty="0" smtClean="0">
                  <a:solidFill>
                    <a:srgbClr val="FF0000"/>
                  </a:solidFill>
                </a:rPr>
                <a:t>(Generation)</a:t>
              </a:r>
              <a:endParaRPr lang="en-US" altLang="ko-KR" sz="1100" dirty="0"/>
            </a:p>
            <a:p>
              <a:pPr marL="285750" indent="-285750" latinLnBrk="0">
                <a:buFontTx/>
                <a:buChar char="-"/>
              </a:pPr>
              <a:r>
                <a:rPr lang="ko-KR" altLang="en-US" sz="1100" dirty="0" smtClean="0"/>
                <a:t>사실</a:t>
              </a:r>
              <a:r>
                <a:rPr lang="en-US" altLang="ko-KR" sz="1100" dirty="0" smtClean="0"/>
                <a:t>(</a:t>
              </a:r>
              <a:r>
                <a:rPr lang="ko-KR" altLang="en-US" sz="1100" dirty="0" smtClean="0"/>
                <a:t>자료</a:t>
              </a:r>
              <a:r>
                <a:rPr lang="en-US" altLang="ko-KR" sz="1100" dirty="0" smtClean="0"/>
                <a:t>)</a:t>
              </a:r>
              <a:r>
                <a:rPr lang="ko-KR" altLang="en-US" sz="1100" dirty="0"/>
                <a:t> </a:t>
              </a:r>
              <a:r>
                <a:rPr lang="ko-KR" altLang="en-US" sz="1100" dirty="0" smtClean="0"/>
                <a:t>기반 응답 생성 </a:t>
              </a:r>
              <a:r>
                <a:rPr lang="en-US" altLang="ko-KR" sz="1100" dirty="0" smtClean="0"/>
                <a:t>→ </a:t>
              </a:r>
              <a:r>
                <a:rPr lang="ko-KR" altLang="en-US" sz="1100" dirty="0" smtClean="0"/>
                <a:t>할루시네이션</a:t>
              </a:r>
              <a:r>
                <a:rPr lang="en-US" altLang="ko-KR" sz="1100" dirty="0" smtClean="0"/>
                <a:t>(</a:t>
              </a:r>
              <a:r>
                <a:rPr lang="ko-KR" altLang="en-US" sz="1100" dirty="0" smtClean="0"/>
                <a:t>근거 없는 생성</a:t>
              </a:r>
              <a:r>
                <a:rPr lang="en-US" altLang="ko-KR" sz="1100" dirty="0" smtClean="0"/>
                <a:t>) </a:t>
              </a:r>
              <a:r>
                <a:rPr lang="ko-KR" altLang="en-US" sz="1100" dirty="0" smtClean="0"/>
                <a:t>최소화</a:t>
              </a:r>
              <a:endParaRPr lang="en-US" altLang="ko-KR" sz="1100" dirty="0" smtClean="0"/>
            </a:p>
            <a:p>
              <a:pPr marL="285750" indent="-285750" latinLnBrk="0">
                <a:buFontTx/>
                <a:buChar char="-"/>
              </a:pPr>
              <a:r>
                <a:rPr lang="ko-KR" altLang="en-US" sz="1100" dirty="0" smtClean="0"/>
                <a:t>검색 결과로 확보한 근거 텍스트를 바탕으로 </a:t>
              </a:r>
              <a:r>
                <a:rPr lang="en-US" altLang="ko-KR" sz="1100" dirty="0" smtClean="0"/>
                <a:t>LLM</a:t>
              </a:r>
              <a:r>
                <a:rPr lang="ko-KR" altLang="en-US" sz="1100" dirty="0" smtClean="0"/>
                <a:t>이 신뢰도 높은 답변을 생성하는 과정</a:t>
              </a:r>
              <a:endParaRPr lang="en-US" altLang="ko-KR" sz="1100" dirty="0"/>
            </a:p>
            <a:p>
              <a:pPr marL="285750" indent="-285750" latinLnBrk="0">
                <a:buFontTx/>
                <a:buChar char="-"/>
              </a:pPr>
              <a:r>
                <a:rPr lang="en-US" altLang="ko-KR" sz="1100" dirty="0" smtClean="0"/>
                <a:t>LLM</a:t>
              </a:r>
              <a:r>
                <a:rPr lang="ko-KR" altLang="en-US" sz="1100" dirty="0" smtClean="0"/>
                <a:t>이 독립적으로 학습된 데이터가 아닌</a:t>
              </a:r>
              <a:r>
                <a:rPr lang="en-US" altLang="ko-KR" sz="1100" dirty="0" smtClean="0"/>
                <a:t>, </a:t>
              </a:r>
              <a:r>
                <a:rPr lang="ko-KR" altLang="en-US" sz="1100" dirty="0" smtClean="0"/>
                <a:t>검색된 문서 근거를 함께 입력 받음 → 사실에 근거한 문장 생성 가능</a:t>
              </a:r>
              <a:endParaRPr lang="en-US" altLang="ko-KR" sz="1100" dirty="0" smtClean="0"/>
            </a:p>
            <a:p>
              <a:pPr marL="285750" indent="-285750" latinLnBrk="0">
                <a:buFontTx/>
                <a:buChar char="-"/>
              </a:pPr>
              <a:r>
                <a:rPr lang="ko-KR" altLang="en-US" sz="1100" dirty="0" smtClean="0"/>
                <a:t>출처 인용 및 형식화</a:t>
              </a:r>
              <a:r>
                <a:rPr lang="en-US" altLang="ko-KR" sz="1100" dirty="0" smtClean="0"/>
                <a:t>: </a:t>
              </a:r>
              <a:r>
                <a:rPr lang="ko-KR" altLang="en-US" sz="1100" dirty="0" smtClean="0"/>
                <a:t>신뢰 및 추적 가능성 강화</a:t>
              </a:r>
              <a:r>
                <a:rPr lang="en-US" altLang="ko-KR" sz="1100" dirty="0" smtClean="0"/>
                <a:t>, API </a:t>
              </a:r>
              <a:r>
                <a:rPr lang="ko-KR" altLang="en-US" sz="1100" dirty="0" smtClean="0"/>
                <a:t>응답 → </a:t>
              </a:r>
              <a:r>
                <a:rPr lang="en-US" altLang="ko-KR" sz="1100" dirty="0" smtClean="0"/>
                <a:t>JSON </a:t>
              </a:r>
              <a:r>
                <a:rPr lang="ko-KR" altLang="en-US" sz="1100" dirty="0" smtClean="0"/>
                <a:t>구조</a:t>
              </a:r>
              <a:endParaRPr lang="en-US" altLang="ko-KR" sz="1100" dirty="0" smtClean="0"/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9226297" y="4472066"/>
              <a:ext cx="1323421" cy="3444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000" b="1" dirty="0" smtClean="0">
                  <a:solidFill>
                    <a:schemeClr val="tx1"/>
                  </a:solidFill>
                </a:rPr>
                <a:t>질문을 벡터로 변환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pPr algn="ctr" latinLnBrk="0"/>
              <a:r>
                <a:rPr lang="en-US" altLang="ko-KR" sz="1000" b="1" dirty="0" smtClean="0">
                  <a:solidFill>
                    <a:schemeClr val="tx1"/>
                  </a:solidFill>
                </a:rPr>
                <a:t>(Query Embedding)</a:t>
              </a: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10549718" y="4705423"/>
              <a:ext cx="1112478" cy="1632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000" b="1" dirty="0" smtClean="0">
                  <a:solidFill>
                    <a:schemeClr val="tx1"/>
                  </a:solidFill>
                </a:rPr>
                <a:t>의대생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pic>
          <p:nvPicPr>
            <p:cNvPr id="45" name="그림 4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79301" y="2567104"/>
              <a:ext cx="1980000" cy="330000"/>
            </a:xfrm>
            <a:prstGeom prst="rect">
              <a:avLst/>
            </a:prstGeom>
          </p:spPr>
        </p:pic>
        <p:sp>
          <p:nvSpPr>
            <p:cNvPr id="38" name="직사각형 37"/>
            <p:cNvSpPr/>
            <p:nvPr/>
          </p:nvSpPr>
          <p:spPr>
            <a:xfrm>
              <a:off x="1283516" y="4010911"/>
              <a:ext cx="342638" cy="4110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" name="직사각형 2"/>
            <p:cNvSpPr/>
            <p:nvPr/>
          </p:nvSpPr>
          <p:spPr>
            <a:xfrm>
              <a:off x="3453614" y="2122800"/>
              <a:ext cx="2675999" cy="18881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3654966" y="2041802"/>
              <a:ext cx="2385107" cy="2598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3929188" y="2338765"/>
              <a:ext cx="2385107" cy="7017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3463952" y="3655268"/>
              <a:ext cx="2575022" cy="335791"/>
            </a:xfrm>
            <a:prstGeom prst="rect">
              <a:avLst/>
            </a:prstGeom>
            <a:solidFill>
              <a:srgbClr val="01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380770" y="2100968"/>
              <a:ext cx="2983832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0"/>
              <a:r>
                <a:rPr lang="ko-KR" altLang="en-US" sz="1000" b="1" dirty="0" smtClean="0"/>
                <a:t>결합된 </a:t>
              </a:r>
              <a:r>
                <a:rPr lang="en-US" altLang="ko-KR" sz="1000" b="1" dirty="0" smtClean="0"/>
                <a:t>RAG </a:t>
              </a:r>
              <a:r>
                <a:rPr lang="ko-KR" altLang="en-US" sz="1000" b="1" dirty="0" smtClean="0"/>
                <a:t>프롬프트</a:t>
              </a:r>
              <a:r>
                <a:rPr lang="en-US" altLang="ko-KR" sz="1000" b="1" dirty="0"/>
                <a:t> </a:t>
              </a:r>
              <a:r>
                <a:rPr lang="en-US" altLang="ko-KR" sz="1000" b="1" dirty="0" smtClean="0"/>
                <a:t>(RAG Assembled Prompt)</a:t>
              </a:r>
            </a:p>
            <a:p>
              <a:pPr latinLnBrk="0"/>
              <a:r>
                <a:rPr lang="ko-KR" altLang="en-US" sz="1000" dirty="0" smtClean="0"/>
                <a:t>지침</a:t>
              </a:r>
              <a:r>
                <a:rPr lang="en-US" altLang="ko-KR" sz="1000" dirty="0" smtClean="0"/>
                <a:t>: </a:t>
              </a:r>
              <a:r>
                <a:rPr lang="ko-KR" altLang="en-US" sz="1000" dirty="0" smtClean="0"/>
                <a:t>시스템 프롬프트</a:t>
              </a:r>
              <a:r>
                <a:rPr lang="en-US" altLang="ko-KR" sz="1000" dirty="0" smtClean="0"/>
                <a:t>(System Prompt)</a:t>
              </a:r>
            </a:p>
            <a:p>
              <a:pPr latinLnBrk="0"/>
              <a:r>
                <a:rPr lang="en-US" altLang="ko-KR" sz="1000" dirty="0" smtClean="0"/>
                <a:t>“</a:t>
              </a:r>
              <a:r>
                <a:rPr lang="ko-KR" altLang="en-US" sz="1000" dirty="0" smtClean="0"/>
                <a:t>당신은 정확한 정보를 제공하는 데 전념하는 </a:t>
              </a:r>
              <a:r>
                <a:rPr lang="ko-KR" altLang="en-US" sz="1000" dirty="0" smtClean="0">
                  <a:solidFill>
                    <a:srgbClr val="FF0000"/>
                  </a:solidFill>
                </a:rPr>
                <a:t>사실 기반</a:t>
              </a:r>
              <a:r>
                <a:rPr lang="ko-KR" altLang="en-US" sz="1000" dirty="0" smtClean="0"/>
                <a:t> 교육 보조 </a:t>
              </a:r>
              <a:r>
                <a:rPr lang="en-US" altLang="ko-KR" sz="1000" dirty="0" smtClean="0"/>
                <a:t>AI, NeuroBot</a:t>
              </a:r>
              <a:r>
                <a:rPr lang="ko-KR" altLang="en-US" sz="1000" dirty="0" smtClean="0"/>
                <a:t>입니다</a:t>
              </a:r>
              <a:r>
                <a:rPr lang="en-US" altLang="ko-KR" sz="1000" dirty="0" smtClean="0"/>
                <a:t>. </a:t>
              </a:r>
              <a:r>
                <a:rPr lang="ko-KR" altLang="en-US" sz="1000" dirty="0" smtClean="0"/>
                <a:t>지식 베이스에 명시되어 있거나 그로부터 뒷받침되지 않는 한 어떠한 주장도 하지 마십시오</a:t>
              </a:r>
              <a:r>
                <a:rPr lang="en-US" altLang="ko-KR" sz="1000" dirty="0" smtClean="0"/>
                <a:t>.”</a:t>
              </a:r>
            </a:p>
            <a:p>
              <a:pPr latinLnBrk="0"/>
              <a:endParaRPr lang="en-US" altLang="ko-KR" sz="1000" dirty="0"/>
            </a:p>
            <a:p>
              <a:pPr latinLnBrk="0"/>
              <a:r>
                <a:rPr lang="ko-KR" altLang="en-US" sz="1000" dirty="0" smtClean="0"/>
                <a:t>사용자 질문</a:t>
              </a:r>
              <a:r>
                <a:rPr lang="en-US" altLang="ko-KR" sz="1000" dirty="0" smtClean="0"/>
                <a:t>(Question)</a:t>
              </a:r>
            </a:p>
            <a:p>
              <a:pPr latinLnBrk="0"/>
              <a:r>
                <a:rPr lang="en-US" altLang="ko-KR" sz="1000" dirty="0" smtClean="0">
                  <a:solidFill>
                    <a:srgbClr val="FF0000"/>
                  </a:solidFill>
                </a:rPr>
                <a:t>“</a:t>
              </a:r>
              <a:r>
                <a:rPr lang="ko-KR" altLang="en-US" sz="1000" dirty="0" smtClean="0">
                  <a:solidFill>
                    <a:srgbClr val="FF0000"/>
                  </a:solidFill>
                </a:rPr>
                <a:t>촉각의 전달 경로는 무엇인가요</a:t>
              </a:r>
              <a:r>
                <a:rPr lang="en-US" altLang="ko-KR" sz="1000" dirty="0" smtClean="0">
                  <a:solidFill>
                    <a:srgbClr val="FF0000"/>
                  </a:solidFill>
                </a:rPr>
                <a:t>?”</a:t>
              </a:r>
            </a:p>
            <a:p>
              <a:pPr latinLnBrk="0"/>
              <a:endParaRPr lang="en-US" altLang="ko-KR" sz="1000" dirty="0"/>
            </a:p>
            <a:p>
              <a:pPr latinLnBrk="0"/>
              <a:r>
                <a:rPr lang="ko-KR" altLang="en-US" sz="1000" dirty="0" smtClean="0"/>
                <a:t>지식 베이스</a:t>
              </a:r>
              <a:r>
                <a:rPr lang="en-US" altLang="ko-KR" sz="1000" dirty="0" smtClean="0"/>
                <a:t>(Knowledge Base)</a:t>
              </a:r>
            </a:p>
            <a:p>
              <a:pPr latinLnBrk="0"/>
              <a:r>
                <a:rPr lang="ko-KR" altLang="en-US" sz="1000" dirty="0" smtClean="0"/>
                <a:t>강의 자료에서 검색된</a:t>
              </a:r>
              <a:r>
                <a:rPr lang="ko-KR" altLang="en-US" sz="1000" dirty="0"/>
                <a:t> </a:t>
              </a:r>
              <a:r>
                <a:rPr lang="ko-KR" altLang="en-US" sz="1000" dirty="0" smtClean="0"/>
                <a:t>관련 텍스트 덩어리들</a:t>
              </a:r>
              <a:endParaRPr lang="ko-KR" altLang="en-US" sz="1000" dirty="0"/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1232382" y="47281"/>
              <a:ext cx="1886789" cy="19047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01749" y="64059"/>
              <a:ext cx="1924319" cy="2076740"/>
            </a:xfrm>
            <a:prstGeom prst="rect">
              <a:avLst/>
            </a:prstGeom>
          </p:spPr>
        </p:pic>
        <p:sp>
          <p:nvSpPr>
            <p:cNvPr id="2" name="직사각형 1"/>
            <p:cNvSpPr/>
            <p:nvPr/>
          </p:nvSpPr>
          <p:spPr>
            <a:xfrm>
              <a:off x="7080308" y="1514166"/>
              <a:ext cx="167780" cy="788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46" name="그림 45"/>
          <p:cNvPicPr>
            <a:picLocks noChangeAspect="1"/>
          </p:cNvPicPr>
          <p:nvPr/>
        </p:nvPicPr>
        <p:blipFill rotWithShape="1">
          <a:blip r:embed="rId5"/>
          <a:srcRect l="435" t="1053" r="1290" b="468"/>
          <a:stretch/>
        </p:blipFill>
        <p:spPr>
          <a:xfrm>
            <a:off x="3089632" y="66837"/>
            <a:ext cx="3960000" cy="103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828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68503" y="10006"/>
            <a:ext cx="12048569" cy="6844673"/>
            <a:chOff x="9780" y="-6772"/>
            <a:chExt cx="12048569" cy="6844673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58349" y="72919"/>
              <a:ext cx="10800000" cy="6435826"/>
            </a:xfrm>
            <a:prstGeom prst="rect">
              <a:avLst/>
            </a:prstGeom>
          </p:spPr>
        </p:pic>
        <p:sp>
          <p:nvSpPr>
            <p:cNvPr id="6" name="직사각형 5"/>
            <p:cNvSpPr/>
            <p:nvPr/>
          </p:nvSpPr>
          <p:spPr>
            <a:xfrm>
              <a:off x="1449969" y="5519956"/>
              <a:ext cx="721453" cy="1845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000" b="1" dirty="0" smtClean="0">
                  <a:solidFill>
                    <a:schemeClr val="tx1"/>
                  </a:solidFill>
                </a:rPr>
                <a:t>교수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2290266" y="4772780"/>
              <a:ext cx="662658" cy="3361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000" b="1" dirty="0" smtClean="0">
                  <a:solidFill>
                    <a:schemeClr val="tx1"/>
                  </a:solidFill>
                </a:rPr>
                <a:t>학습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pPr algn="ctr" latinLnBrk="0"/>
              <a:r>
                <a:rPr lang="ko-KR" altLang="en-US" sz="1000" b="1" dirty="0" smtClean="0">
                  <a:solidFill>
                    <a:schemeClr val="tx1"/>
                  </a:solidFill>
                </a:rPr>
                <a:t>자료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3129168" y="4568317"/>
              <a:ext cx="741662" cy="2044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000" b="1" dirty="0" smtClean="0">
                  <a:solidFill>
                    <a:schemeClr val="tx1"/>
                  </a:solidFill>
                </a:rPr>
                <a:t>텍스트북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2861999" y="6332817"/>
              <a:ext cx="1075007" cy="3733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000" b="1" dirty="0" smtClean="0">
                  <a:solidFill>
                    <a:schemeClr val="tx1"/>
                  </a:solidFill>
                </a:rPr>
                <a:t>기출 문제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pPr algn="ctr" latinLnBrk="0"/>
              <a:r>
                <a:rPr lang="en-US" altLang="ko-KR" sz="1000" b="1" dirty="0" smtClean="0">
                  <a:solidFill>
                    <a:schemeClr val="tx1"/>
                  </a:solidFill>
                </a:rPr>
                <a:t>(pdf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문서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5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개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)</a:t>
              </a: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4531450" y="4698944"/>
              <a:ext cx="947958" cy="3444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000" b="1" dirty="0" smtClean="0">
                  <a:solidFill>
                    <a:schemeClr val="tx1"/>
                  </a:solidFill>
                </a:rPr>
                <a:t>텍스트 로딩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pPr algn="ctr" latinLnBrk="0"/>
              <a:r>
                <a:rPr lang="en-US" altLang="ko-KR" sz="1000" b="1" dirty="0" smtClean="0">
                  <a:solidFill>
                    <a:schemeClr val="tx1"/>
                  </a:solidFill>
                </a:rPr>
                <a:t>(Text Loader)</a:t>
              </a: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5610128" y="4698944"/>
              <a:ext cx="1016473" cy="3444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000" b="1" dirty="0" smtClean="0">
                  <a:solidFill>
                    <a:schemeClr val="tx1"/>
                  </a:solidFill>
                </a:rPr>
                <a:t>텍스트 분할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pPr algn="ctr" latinLnBrk="0"/>
              <a:r>
                <a:rPr lang="en-US" altLang="ko-KR" sz="1000" b="1" dirty="0" smtClean="0">
                  <a:solidFill>
                    <a:schemeClr val="tx1"/>
                  </a:solidFill>
                </a:rPr>
                <a:t>(Text Splitter)</a:t>
              </a: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6536423" y="4698944"/>
              <a:ext cx="1642843" cy="3444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000" b="1" dirty="0" smtClean="0">
                  <a:solidFill>
                    <a:schemeClr val="tx1"/>
                  </a:solidFill>
                </a:rPr>
                <a:t>임베딩 및 인덱싱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pPr algn="ctr" latinLnBrk="0"/>
              <a:r>
                <a:rPr lang="en-US" altLang="ko-KR" sz="1000" b="1" dirty="0" smtClean="0">
                  <a:solidFill>
                    <a:schemeClr val="tx1"/>
                  </a:solidFill>
                </a:rPr>
                <a:t>(Embedding &amp; Indexing)</a:t>
              </a: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0402349" y="5009849"/>
              <a:ext cx="1409350" cy="3444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r>
                <a:rPr lang="en-US" altLang="ko-KR" sz="1000" dirty="0" smtClean="0">
                  <a:solidFill>
                    <a:srgbClr val="FF0000"/>
                  </a:solidFill>
                </a:rPr>
                <a:t>“</a:t>
              </a:r>
              <a:r>
                <a:rPr lang="ko-KR" altLang="en-US" sz="1000" dirty="0" smtClean="0">
                  <a:solidFill>
                    <a:srgbClr val="FF0000"/>
                  </a:solidFill>
                </a:rPr>
                <a:t>시험 문제의 유형은 어떤 게 있어요</a:t>
              </a:r>
              <a:r>
                <a:rPr lang="en-US" altLang="ko-KR" sz="1000" dirty="0" smtClean="0">
                  <a:solidFill>
                    <a:srgbClr val="FF0000"/>
                  </a:solidFill>
                </a:rPr>
                <a:t>?“</a:t>
              </a: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8122208" y="4698943"/>
              <a:ext cx="1178941" cy="3444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000" b="1" dirty="0" smtClean="0">
                  <a:solidFill>
                    <a:schemeClr val="tx1"/>
                  </a:solidFill>
                </a:rPr>
                <a:t>벡터 저장소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pPr algn="ctr" latinLnBrk="0"/>
              <a:r>
                <a:rPr lang="en-US" altLang="ko-KR" sz="1000" b="1" dirty="0" smtClean="0">
                  <a:solidFill>
                    <a:schemeClr val="tx1"/>
                  </a:solidFill>
                </a:rPr>
                <a:t>(Vector Storage)</a:t>
              </a: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6543110" y="6188715"/>
              <a:ext cx="1588030" cy="5133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000" b="1" dirty="0" smtClean="0">
                  <a:solidFill>
                    <a:schemeClr val="tx1"/>
                  </a:solidFill>
                </a:rPr>
                <a:t>임베딩 모델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pPr algn="ctr" latinLnBrk="0"/>
              <a:r>
                <a:rPr lang="en-US" altLang="ko-KR" sz="1000" b="1" dirty="0" smtClean="0">
                  <a:solidFill>
                    <a:schemeClr val="tx1"/>
                  </a:solidFill>
                </a:rPr>
                <a:t>(Embedding Model)</a:t>
              </a:r>
            </a:p>
            <a:p>
              <a:pPr algn="ctr" latinLnBrk="0"/>
              <a:r>
                <a:rPr lang="en-US" altLang="ko-KR" sz="1000" b="1" dirty="0" smtClean="0">
                  <a:solidFill>
                    <a:schemeClr val="tx1"/>
                  </a:solidFill>
                </a:rPr>
                <a:t>=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벡터화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(Vectorization)</a:t>
              </a: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9519263" y="4127383"/>
              <a:ext cx="741662" cy="2044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000" b="1" dirty="0" smtClean="0">
                  <a:solidFill>
                    <a:schemeClr val="tx1"/>
                  </a:solidFill>
                </a:rPr>
                <a:t>질문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6832467" y="3552895"/>
              <a:ext cx="2364338" cy="1466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000" b="1" dirty="0" smtClean="0">
                  <a:solidFill>
                    <a:schemeClr val="tx1"/>
                  </a:solidFill>
                </a:rPr>
                <a:t>프롬프트 어셈블리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(Prompt Assembly)</a:t>
              </a: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1339309" y="1537611"/>
              <a:ext cx="1569360" cy="3444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100" b="1" dirty="0" smtClean="0">
                  <a:solidFill>
                    <a:schemeClr val="tx1"/>
                  </a:solidFill>
                </a:rPr>
                <a:t>지능형 학습 보조 및 시험 대비 시스템</a:t>
              </a:r>
              <a:endParaRPr lang="en-US" altLang="ko-KR" sz="11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9510553" y="1771827"/>
              <a:ext cx="1134031" cy="2393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000" b="1" dirty="0" smtClean="0">
                  <a:solidFill>
                    <a:schemeClr val="tx1"/>
                  </a:solidFill>
                </a:rPr>
                <a:t>조교 챗봇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: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답변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6224990" y="1147835"/>
              <a:ext cx="984806" cy="3782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000" b="1" dirty="0" smtClean="0">
                  <a:solidFill>
                    <a:schemeClr val="tx1"/>
                  </a:solidFill>
                </a:rPr>
                <a:t>사전 학습</a:t>
              </a:r>
              <a:endParaRPr lang="en-US" altLang="ko-KR" sz="1000" b="1" dirty="0">
                <a:solidFill>
                  <a:schemeClr val="tx1"/>
                </a:solidFill>
              </a:endParaRPr>
            </a:p>
            <a:p>
              <a:pPr algn="ctr" latinLnBrk="0"/>
              <a:r>
                <a:rPr lang="en-US" altLang="ko-KR" sz="1000" b="1" dirty="0" smtClean="0">
                  <a:solidFill>
                    <a:schemeClr val="tx1"/>
                  </a:solidFill>
                </a:rPr>
                <a:t>(Pre-training)</a:t>
              </a: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4473252" y="1825070"/>
              <a:ext cx="1762145" cy="1525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000" b="1" dirty="0" smtClean="0">
                  <a:solidFill>
                    <a:schemeClr val="tx1"/>
                  </a:solidFill>
                </a:rPr>
                <a:t>학습 데이터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(Training data)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780" y="6499347"/>
              <a:ext cx="29263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0"/>
              <a:r>
                <a:rPr lang="en-US" altLang="ko-KR" sz="1600" b="1" dirty="0" smtClean="0"/>
                <a:t>Fig</a:t>
              </a:r>
              <a:r>
                <a:rPr lang="ko-KR" altLang="en-US" sz="1600" b="1" dirty="0" smtClean="0"/>
                <a:t> </a:t>
              </a:r>
              <a:r>
                <a:rPr lang="en-US" altLang="ko-KR" sz="1600" b="1" dirty="0"/>
                <a:t>2</a:t>
              </a:r>
              <a:r>
                <a:rPr lang="en-US" altLang="ko-KR" sz="1600" b="1" dirty="0" smtClean="0"/>
                <a:t>. </a:t>
              </a:r>
              <a:r>
                <a:rPr lang="ko-KR" altLang="en-US" sz="1600" b="1" dirty="0" smtClean="0"/>
                <a:t>솔루션 아키텍처</a:t>
              </a:r>
            </a:p>
          </p:txBody>
        </p:sp>
        <p:sp>
          <p:nvSpPr>
            <p:cNvPr id="32" name="왼쪽 대괄호 31"/>
            <p:cNvSpPr/>
            <p:nvPr/>
          </p:nvSpPr>
          <p:spPr>
            <a:xfrm rot="16200000">
              <a:off x="4929193" y="4737804"/>
              <a:ext cx="134651" cy="767116"/>
            </a:xfrm>
            <a:prstGeom prst="leftBracket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335507" y="5243330"/>
              <a:ext cx="253201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0"/>
              <a:r>
                <a:rPr lang="ko-KR" altLang="en-US" sz="1100" b="1" dirty="0" smtClean="0"/>
                <a:t>텍스트 로딩 파일 종류별 사용 클래스</a:t>
              </a:r>
              <a:endParaRPr lang="en-US" altLang="ko-KR" sz="1100" b="1" dirty="0" smtClean="0"/>
            </a:p>
            <a:p>
              <a:pPr marL="285750" indent="-285750" latinLnBrk="0">
                <a:buFontTx/>
                <a:buChar char="-"/>
              </a:pPr>
              <a:r>
                <a:rPr lang="en-US" altLang="ko-KR" sz="1100" dirty="0" smtClean="0"/>
                <a:t>PDF </a:t>
              </a:r>
              <a:r>
                <a:rPr lang="ko-KR" altLang="en-US" sz="1100" dirty="0" smtClean="0"/>
                <a:t>파일</a:t>
              </a:r>
              <a:r>
                <a:rPr lang="en-US" altLang="ko-KR" sz="1100" dirty="0" smtClean="0"/>
                <a:t>: </a:t>
              </a:r>
              <a:r>
                <a:rPr lang="en-US" altLang="ko-KR" sz="1100" dirty="0" smtClean="0">
                  <a:solidFill>
                    <a:srgbClr val="FF0000"/>
                  </a:solidFill>
                </a:rPr>
                <a:t>PyPDFLoader</a:t>
              </a:r>
            </a:p>
            <a:p>
              <a:pPr marL="285750" indent="-285750" latinLnBrk="0">
                <a:buFontTx/>
                <a:buChar char="-"/>
              </a:pPr>
              <a:r>
                <a:rPr lang="en-US" altLang="ko-KR" sz="1100" dirty="0" smtClean="0"/>
                <a:t>Word </a:t>
              </a:r>
              <a:r>
                <a:rPr lang="ko-KR" altLang="en-US" sz="1100" dirty="0" smtClean="0"/>
                <a:t>파일</a:t>
              </a:r>
              <a:r>
                <a:rPr lang="en-US" altLang="ko-KR" sz="1100" dirty="0" smtClean="0"/>
                <a:t>: </a:t>
              </a:r>
              <a:r>
                <a:rPr lang="en-US" altLang="ko-KR" sz="1100" dirty="0" smtClean="0">
                  <a:solidFill>
                    <a:srgbClr val="FF0000"/>
                  </a:solidFill>
                </a:rPr>
                <a:t>Doc2txtLoader</a:t>
              </a:r>
            </a:p>
            <a:p>
              <a:pPr marL="285750" indent="-285750" latinLnBrk="0">
                <a:buFontTx/>
                <a:buChar char="-"/>
              </a:pPr>
              <a:r>
                <a:rPr lang="en-US" altLang="ko-KR" sz="1100" dirty="0" smtClean="0"/>
                <a:t>PPT </a:t>
              </a:r>
              <a:r>
                <a:rPr lang="ko-KR" altLang="en-US" sz="1100" dirty="0" smtClean="0"/>
                <a:t>파일</a:t>
              </a:r>
              <a:r>
                <a:rPr lang="en-US" altLang="ko-KR" sz="1100" dirty="0" smtClean="0"/>
                <a:t>:</a:t>
              </a:r>
              <a:r>
                <a:rPr lang="ko-KR" altLang="en-US" sz="1100" dirty="0"/>
                <a:t> </a:t>
              </a:r>
              <a:r>
                <a:rPr lang="en-US" altLang="ko-KR" sz="1100" dirty="0" smtClean="0">
                  <a:solidFill>
                    <a:srgbClr val="FF0000"/>
                  </a:solidFill>
                </a:rPr>
                <a:t>Presentation</a:t>
              </a:r>
              <a:endParaRPr lang="en-US" altLang="ko-KR" sz="1100" dirty="0">
                <a:solidFill>
                  <a:srgbClr val="FF0000"/>
                </a:solidFill>
              </a:endParaRPr>
            </a:p>
          </p:txBody>
        </p:sp>
        <p:sp>
          <p:nvSpPr>
            <p:cNvPr id="35" name="왼쪽 대괄호 34"/>
            <p:cNvSpPr/>
            <p:nvPr/>
          </p:nvSpPr>
          <p:spPr>
            <a:xfrm rot="16200000">
              <a:off x="7930540" y="2858303"/>
              <a:ext cx="134652" cy="4526118"/>
            </a:xfrm>
            <a:prstGeom prst="leftBracket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561412" y="5243329"/>
              <a:ext cx="3091882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0"/>
              <a:r>
                <a:rPr lang="ko-KR" altLang="en-US" sz="1100" b="1" dirty="0" smtClean="0"/>
                <a:t>청킹 및 임베딩 사용 클래스</a:t>
              </a:r>
              <a:endParaRPr lang="en-US" altLang="ko-KR" sz="1100" b="1" dirty="0" smtClean="0"/>
            </a:p>
            <a:p>
              <a:pPr marL="171450" indent="-171450" latinLnBrk="0">
                <a:buFontTx/>
                <a:buChar char="-"/>
              </a:pPr>
              <a:r>
                <a:rPr lang="ko-KR" altLang="en-US" sz="1100" b="1" dirty="0" smtClean="0"/>
                <a:t>텍스트 분할</a:t>
              </a:r>
              <a:r>
                <a:rPr lang="en-US" altLang="ko-KR" sz="1100" dirty="0" smtClean="0"/>
                <a:t>:</a:t>
              </a:r>
              <a:r>
                <a:rPr lang="en-US" altLang="ko-KR" sz="1100" dirty="0"/>
                <a:t> </a:t>
              </a:r>
              <a:r>
                <a:rPr lang="en-US" altLang="ko-KR" sz="1100" dirty="0" smtClean="0">
                  <a:solidFill>
                    <a:srgbClr val="FF0000"/>
                  </a:solidFill>
                </a:rPr>
                <a:t>RecursiveCharacterTextSplitter</a:t>
              </a:r>
            </a:p>
            <a:p>
              <a:pPr marL="171450" indent="-171450" latinLnBrk="0">
                <a:buFontTx/>
                <a:buChar char="-"/>
              </a:pPr>
              <a:r>
                <a:rPr lang="ko-KR" altLang="en-US" sz="1100" b="1" dirty="0" smtClean="0"/>
                <a:t>임베딩 및 인덱싱</a:t>
              </a:r>
              <a:r>
                <a:rPr lang="en-US" altLang="ko-KR" sz="1100" dirty="0"/>
                <a:t>: </a:t>
              </a:r>
              <a:r>
                <a:rPr lang="en-US" altLang="ko-KR" sz="1100" dirty="0" smtClean="0">
                  <a:solidFill>
                    <a:srgbClr val="FF0000"/>
                  </a:solidFill>
                </a:rPr>
                <a:t>OpenAIEmbeddings</a:t>
              </a:r>
            </a:p>
            <a:p>
              <a:pPr marL="171450" indent="-171450" latinLnBrk="0">
                <a:buFontTx/>
                <a:buChar char="-"/>
              </a:pPr>
              <a:r>
                <a:rPr lang="ko-KR" altLang="en-US" sz="1100" b="1" dirty="0" smtClean="0"/>
                <a:t>벡터 저장소</a:t>
              </a:r>
              <a:r>
                <a:rPr lang="en-US" altLang="ko-KR" sz="1100" b="1" dirty="0" smtClean="0"/>
                <a:t>: </a:t>
              </a:r>
              <a:r>
                <a:rPr lang="en-US" altLang="ko-KR" sz="1100" dirty="0" smtClean="0">
                  <a:solidFill>
                    <a:srgbClr val="FF0000"/>
                  </a:solidFill>
                </a:rPr>
                <a:t>FAISS</a:t>
              </a:r>
              <a:endParaRPr lang="en-US" altLang="ko-KR" sz="1100" b="1" dirty="0" smtClean="0">
                <a:solidFill>
                  <a:srgbClr val="FF0000"/>
                </a:solidFill>
              </a:endParaRPr>
            </a:p>
          </p:txBody>
        </p:sp>
        <p:sp>
          <p:nvSpPr>
            <p:cNvPr id="39" name="왼쪽 대괄호 38"/>
            <p:cNvSpPr/>
            <p:nvPr/>
          </p:nvSpPr>
          <p:spPr>
            <a:xfrm rot="10800000">
              <a:off x="9036736" y="2122800"/>
              <a:ext cx="105056" cy="2020030"/>
            </a:xfrm>
            <a:prstGeom prst="leftBracket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9226297" y="4472066"/>
              <a:ext cx="1323421" cy="3444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000" b="1" dirty="0" smtClean="0">
                  <a:solidFill>
                    <a:schemeClr val="tx1"/>
                  </a:solidFill>
                </a:rPr>
                <a:t>질문을 벡터로 변환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pPr algn="ctr" latinLnBrk="0"/>
              <a:r>
                <a:rPr lang="en-US" altLang="ko-KR" sz="1000" b="1" dirty="0" smtClean="0">
                  <a:solidFill>
                    <a:schemeClr val="tx1"/>
                  </a:solidFill>
                </a:rPr>
                <a:t>(Query Embedding)</a:t>
              </a: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10549718" y="4705423"/>
              <a:ext cx="1112478" cy="1632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000" b="1" dirty="0" smtClean="0">
                  <a:solidFill>
                    <a:schemeClr val="tx1"/>
                  </a:solidFill>
                </a:rPr>
                <a:t>사용자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pic>
          <p:nvPicPr>
            <p:cNvPr id="45" name="그림 4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79301" y="2567104"/>
              <a:ext cx="1980000" cy="330000"/>
            </a:xfrm>
            <a:prstGeom prst="rect">
              <a:avLst/>
            </a:prstGeom>
          </p:spPr>
        </p:pic>
        <p:sp>
          <p:nvSpPr>
            <p:cNvPr id="3" name="직사각형 2"/>
            <p:cNvSpPr/>
            <p:nvPr/>
          </p:nvSpPr>
          <p:spPr>
            <a:xfrm>
              <a:off x="1225548" y="4536442"/>
              <a:ext cx="1845577" cy="11680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1283516" y="4010911"/>
              <a:ext cx="342638" cy="4110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3163759" y="4191085"/>
              <a:ext cx="1063199" cy="5584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333461" y="4984984"/>
              <a:ext cx="1593234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0"/>
              <a:r>
                <a:rPr lang="en-US" altLang="ko-KR" sz="1100" b="1" dirty="0" smtClean="0"/>
                <a:t>Input 1: </a:t>
              </a:r>
              <a:r>
                <a:rPr lang="ko-KR" altLang="en-US" sz="1100" b="1" dirty="0" smtClean="0"/>
                <a:t>강의 자료</a:t>
              </a:r>
              <a:endParaRPr lang="en-US" altLang="ko-KR" sz="1100" b="1" dirty="0" smtClean="0"/>
            </a:p>
            <a:p>
              <a:pPr algn="ctr" latinLnBrk="0"/>
              <a:r>
                <a:rPr lang="en-US" altLang="ko-KR" sz="1100" b="1" dirty="0" smtClean="0"/>
                <a:t>[Lecture Material]</a:t>
              </a:r>
            </a:p>
            <a:p>
              <a:pPr algn="ctr" latinLnBrk="0"/>
              <a:r>
                <a:rPr lang="ko-KR" altLang="en-US" sz="1100" b="1" dirty="0" smtClean="0"/>
                <a:t>파일</a:t>
              </a:r>
              <a:r>
                <a:rPr lang="en-US" altLang="ko-KR" sz="1100" b="1" dirty="0" smtClean="0"/>
                <a:t>: pdf, word, ppt, </a:t>
              </a:r>
              <a:r>
                <a:rPr lang="ko-KR" altLang="en-US" sz="1100" b="1" dirty="0" smtClean="0"/>
                <a:t>이미지</a:t>
              </a:r>
              <a:r>
                <a:rPr lang="en-US" altLang="ko-KR" sz="1100" b="1" dirty="0" smtClean="0"/>
                <a:t>, </a:t>
              </a:r>
              <a:r>
                <a:rPr lang="ko-KR" altLang="en-US" sz="1100" b="1" dirty="0" smtClean="0"/>
                <a:t>음성</a:t>
              </a:r>
              <a:r>
                <a:rPr lang="en-US" altLang="ko-KR" sz="1100" b="1" dirty="0" smtClean="0"/>
                <a:t>, </a:t>
              </a:r>
              <a:r>
                <a:rPr lang="ko-KR" altLang="en-US" sz="1100" b="1" dirty="0" smtClean="0"/>
                <a:t>동영상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473122" y="5905549"/>
              <a:ext cx="1439403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0"/>
              <a:r>
                <a:rPr lang="en-US" altLang="ko-KR" sz="1100" b="1" dirty="0" smtClean="0"/>
                <a:t>Input 2: </a:t>
              </a:r>
              <a:r>
                <a:rPr lang="ko-KR" altLang="en-US" sz="1100" b="1" dirty="0" smtClean="0"/>
                <a:t>연습 문제</a:t>
              </a:r>
              <a:endParaRPr lang="en-US" altLang="ko-KR" sz="1100" b="1" dirty="0" smtClean="0"/>
            </a:p>
            <a:p>
              <a:pPr algn="ctr" latinLnBrk="0"/>
              <a:r>
                <a:rPr lang="en-US" altLang="ko-KR" sz="1100" b="1" dirty="0" smtClean="0"/>
                <a:t>[Practice Problem]</a:t>
              </a:r>
              <a:endParaRPr lang="en-US" altLang="ko-KR" sz="1100" b="1" dirty="0"/>
            </a:p>
            <a:p>
              <a:pPr algn="ctr" latinLnBrk="0"/>
              <a:r>
                <a:rPr lang="ko-KR" altLang="en-US" sz="1100" b="1" dirty="0" smtClean="0"/>
                <a:t>파일</a:t>
              </a:r>
              <a:r>
                <a:rPr lang="en-US" altLang="ko-KR" sz="1100" b="1" dirty="0" smtClean="0"/>
                <a:t>: pdf, word</a:t>
              </a:r>
              <a:endParaRPr lang="ko-KR" altLang="en-US" sz="1100" b="1" dirty="0" smtClean="0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2972381" y="5451291"/>
              <a:ext cx="1055550" cy="3002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000" b="1" dirty="0" smtClean="0">
                  <a:solidFill>
                    <a:schemeClr val="tx1"/>
                  </a:solidFill>
                </a:rPr>
                <a:t>강의 노트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pPr algn="ctr" latinLnBrk="0"/>
              <a:r>
                <a:rPr lang="en-US" altLang="ko-KR" sz="1000" b="1" dirty="0" smtClean="0">
                  <a:solidFill>
                    <a:schemeClr val="tx1"/>
                  </a:solidFill>
                </a:rPr>
                <a:t>(pdf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문서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15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개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)</a:t>
              </a:r>
            </a:p>
          </p:txBody>
        </p:sp>
        <p:pic>
          <p:nvPicPr>
            <p:cNvPr id="29" name="그림 28"/>
            <p:cNvPicPr>
              <a:picLocks noChangeAspect="1"/>
            </p:cNvPicPr>
            <p:nvPr/>
          </p:nvPicPr>
          <p:blipFill rotWithShape="1">
            <a:blip r:embed="rId4"/>
            <a:srcRect l="21955" t="24698" r="10331" b="10470"/>
            <a:stretch/>
          </p:blipFill>
          <p:spPr>
            <a:xfrm>
              <a:off x="1418148" y="58269"/>
              <a:ext cx="1354533" cy="1161029"/>
            </a:xfrm>
            <a:prstGeom prst="rect">
              <a:avLst/>
            </a:prstGeom>
          </p:spPr>
        </p:pic>
        <p:pic>
          <p:nvPicPr>
            <p:cNvPr id="30" name="그림 2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92639" y="1214885"/>
              <a:ext cx="1711393" cy="318259"/>
            </a:xfrm>
            <a:prstGeom prst="rect">
              <a:avLst/>
            </a:prstGeom>
          </p:spPr>
        </p:pic>
        <p:pic>
          <p:nvPicPr>
            <p:cNvPr id="31" name="그림 3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724183" y="3841373"/>
              <a:ext cx="756000" cy="756000"/>
            </a:xfrm>
            <a:prstGeom prst="rect">
              <a:avLst/>
            </a:prstGeom>
          </p:spPr>
        </p:pic>
        <p:sp>
          <p:nvSpPr>
            <p:cNvPr id="40" name="TextBox 39"/>
            <p:cNvSpPr txBox="1"/>
            <p:nvPr/>
          </p:nvSpPr>
          <p:spPr>
            <a:xfrm>
              <a:off x="9143393" y="2067427"/>
              <a:ext cx="2064299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0"/>
              <a:r>
                <a:rPr lang="ko-KR" altLang="en-US" sz="1000" b="1" dirty="0" smtClean="0"/>
                <a:t>검색</a:t>
              </a:r>
              <a:r>
                <a:rPr lang="en-US" altLang="ko-KR" sz="1000" b="1" dirty="0"/>
                <a:t> </a:t>
              </a:r>
              <a:r>
                <a:rPr lang="ko-KR" altLang="en-US" sz="1000" b="1" dirty="0" smtClean="0"/>
                <a:t>단계 핵심 코드</a:t>
              </a:r>
              <a:endParaRPr lang="en-US" altLang="ko-KR" sz="1000" dirty="0"/>
            </a:p>
            <a:p>
              <a:pPr marL="285750" indent="-285750" latinLnBrk="0">
                <a:buFontTx/>
                <a:buChar char="-"/>
              </a:pPr>
              <a:r>
                <a:rPr lang="ko-KR" altLang="en-US" sz="1000" dirty="0" smtClean="0"/>
                <a:t>임베딩된 입력 텍스트 데이터를 </a:t>
              </a:r>
              <a:r>
                <a:rPr lang="ko-KR" altLang="en-US" sz="1000" b="1" dirty="0" smtClean="0"/>
                <a:t>의미적 유사도로 검색</a:t>
              </a:r>
              <a:r>
                <a:rPr lang="en-US" altLang="ko-KR" sz="1000" dirty="0" smtClean="0"/>
                <a:t>: </a:t>
              </a:r>
              <a:r>
                <a:rPr lang="en-US" altLang="ko-KR" sz="1000" dirty="0" smtClean="0">
                  <a:solidFill>
                    <a:srgbClr val="FF0000"/>
                  </a:solidFill>
                </a:rPr>
                <a:t>db.similarity_search</a:t>
              </a:r>
              <a:endParaRPr lang="en-US" altLang="ko-KR" sz="1000" dirty="0">
                <a:solidFill>
                  <a:srgbClr val="FF0000"/>
                </a:solidFill>
              </a:endParaRPr>
            </a:p>
            <a:p>
              <a:pPr marL="285750" indent="-285750" latinLnBrk="0">
                <a:buFontTx/>
                <a:buChar char="-"/>
              </a:pPr>
              <a:r>
                <a:rPr lang="ko-KR" altLang="en-US" sz="1000" dirty="0" smtClean="0"/>
                <a:t>검색 품질을 높이는 기술</a:t>
              </a:r>
              <a:r>
                <a:rPr lang="en-US" altLang="ko-KR" sz="1000" dirty="0" smtClean="0"/>
                <a:t>: </a:t>
              </a:r>
              <a:r>
                <a:rPr lang="en-US" altLang="ko-KR" sz="1000" dirty="0">
                  <a:solidFill>
                    <a:srgbClr val="FF0000"/>
                  </a:solidFill>
                </a:rPr>
                <a:t>search_type="</a:t>
              </a:r>
              <a:r>
                <a:rPr lang="en-US" altLang="ko-KR" sz="1000" dirty="0" smtClean="0">
                  <a:solidFill>
                    <a:srgbClr val="FF0000"/>
                  </a:solidFill>
                </a:rPr>
                <a:t>mmr“ </a:t>
              </a:r>
              <a:r>
                <a:rPr lang="en-US" altLang="ko-KR" sz="1000" dirty="0" smtClean="0"/>
                <a:t>→ </a:t>
              </a:r>
              <a:r>
                <a:rPr lang="ko-KR" altLang="en-US" sz="1000" dirty="0" smtClean="0"/>
                <a:t>중복 제거 및 다양성 확보</a:t>
              </a:r>
              <a:endParaRPr lang="en-US" altLang="ko-KR" sz="1000" dirty="0"/>
            </a:p>
            <a:p>
              <a:pPr marL="285750" indent="-285750" latinLnBrk="0">
                <a:buFontTx/>
                <a:buChar char="-"/>
              </a:pPr>
              <a:r>
                <a:rPr lang="ko-KR" altLang="en-US" sz="1000" dirty="0" smtClean="0"/>
                <a:t>검색 범위</a:t>
              </a:r>
              <a:r>
                <a:rPr lang="en-US" altLang="ko-KR" sz="1000" dirty="0" smtClean="0"/>
                <a:t>(k) </a:t>
              </a:r>
              <a:r>
                <a:rPr lang="ko-KR" altLang="en-US" sz="1000" dirty="0" smtClean="0"/>
                <a:t>설정</a:t>
              </a:r>
              <a:r>
                <a:rPr lang="en-US" altLang="ko-KR" sz="1000" dirty="0" smtClean="0"/>
                <a:t>: </a:t>
              </a:r>
              <a:r>
                <a:rPr lang="ko-KR" altLang="en-US" sz="1000" dirty="0" smtClean="0"/>
                <a:t>전체 범위</a:t>
              </a:r>
              <a:r>
                <a:rPr lang="en-US" altLang="ko-KR" sz="1000" dirty="0" smtClean="0"/>
                <a:t>(</a:t>
              </a:r>
              <a:r>
                <a:rPr lang="en-US" altLang="ko-KR" sz="1000" dirty="0" smtClean="0">
                  <a:solidFill>
                    <a:srgbClr val="FF0000"/>
                  </a:solidFill>
                </a:rPr>
                <a:t>k=80</a:t>
              </a:r>
              <a:r>
                <a:rPr lang="en-US" altLang="ko-KR" sz="1000" dirty="0" smtClean="0"/>
                <a:t>) </a:t>
              </a:r>
              <a:r>
                <a:rPr lang="ko-KR" altLang="en-US" sz="1000" dirty="0" smtClean="0"/>
                <a:t>또는 특정 주제</a:t>
              </a:r>
              <a:r>
                <a:rPr lang="en-US" altLang="ko-KR" sz="1000" dirty="0" smtClean="0"/>
                <a:t>(</a:t>
              </a:r>
              <a:r>
                <a:rPr lang="en-US" altLang="ko-KR" sz="1000" dirty="0" smtClean="0">
                  <a:solidFill>
                    <a:srgbClr val="FF0000"/>
                  </a:solidFill>
                </a:rPr>
                <a:t>k=15</a:t>
              </a:r>
              <a:r>
                <a:rPr lang="en-US" altLang="ko-KR" sz="1000" dirty="0" smtClean="0"/>
                <a:t>)</a:t>
              </a:r>
              <a:r>
                <a:rPr lang="ko-KR" altLang="en-US" sz="1000" dirty="0" smtClean="0"/>
                <a:t>에 따라 검색할 텍스트 덩어리 개수 조정</a:t>
              </a:r>
              <a:endParaRPr lang="en-US" altLang="ko-KR" sz="1000" dirty="0"/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3462581" y="2121741"/>
              <a:ext cx="2727053" cy="18891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3427990" y="3568290"/>
              <a:ext cx="2877846" cy="402719"/>
            </a:xfrm>
            <a:prstGeom prst="rect">
              <a:avLst/>
            </a:prstGeom>
            <a:solidFill>
              <a:srgbClr val="01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3899239" y="2032360"/>
              <a:ext cx="1832401" cy="2968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6101830" y="2310425"/>
              <a:ext cx="221424" cy="5866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344091" y="2052596"/>
              <a:ext cx="3036026" cy="19697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0"/>
              <a:r>
                <a:rPr lang="ko-KR" altLang="en-US" sz="1000" b="1" dirty="0" smtClean="0"/>
                <a:t>결합된 </a:t>
              </a:r>
              <a:r>
                <a:rPr lang="en-US" altLang="ko-KR" sz="1000" b="1" dirty="0" smtClean="0"/>
                <a:t>RAG </a:t>
              </a:r>
              <a:r>
                <a:rPr lang="ko-KR" altLang="en-US" sz="1000" b="1" dirty="0" smtClean="0"/>
                <a:t>프롬프트</a:t>
              </a:r>
              <a:r>
                <a:rPr lang="en-US" altLang="ko-KR" sz="1000" b="1" dirty="0"/>
                <a:t> </a:t>
              </a:r>
              <a:r>
                <a:rPr lang="en-US" altLang="ko-KR" sz="1000" b="1" dirty="0" smtClean="0"/>
                <a:t>(RAG Assembled Prompt)</a:t>
              </a:r>
            </a:p>
            <a:p>
              <a:pPr latinLnBrk="0"/>
              <a:r>
                <a:rPr lang="ko-KR" altLang="en-US" sz="800" dirty="0" smtClean="0"/>
                <a:t>시스템 프롬프트</a:t>
              </a:r>
              <a:r>
                <a:rPr lang="en-US" altLang="ko-KR" sz="800" dirty="0" smtClean="0"/>
                <a:t>(System Prompt)</a:t>
              </a:r>
            </a:p>
            <a:p>
              <a:pPr latinLnBrk="0"/>
              <a:r>
                <a:rPr lang="en-US" altLang="ko-KR" sz="800" dirty="0" smtClean="0"/>
                <a:t>“</a:t>
              </a:r>
              <a:r>
                <a:rPr lang="ko-KR" altLang="en-US" sz="800" dirty="0" smtClean="0"/>
                <a:t>당신은 지능형 </a:t>
              </a:r>
              <a:r>
                <a:rPr lang="en-US" altLang="ko-KR" sz="800" dirty="0" smtClean="0"/>
                <a:t>AI </a:t>
              </a:r>
              <a:r>
                <a:rPr lang="ko-KR" altLang="en-US" sz="800" dirty="0" smtClean="0"/>
                <a:t>조교</a:t>
              </a:r>
              <a:r>
                <a:rPr lang="en-US" altLang="ko-KR" sz="800" dirty="0" smtClean="0"/>
                <a:t>(intelligent AI Teaching Assistant)</a:t>
              </a:r>
              <a:r>
                <a:rPr lang="ko-KR" altLang="en-US" sz="800" dirty="0" smtClean="0"/>
                <a:t>이자 시험 전략가</a:t>
              </a:r>
              <a:r>
                <a:rPr lang="en-US" altLang="ko-KR" sz="800" dirty="0" smtClean="0"/>
                <a:t>(Exam Strategist)</a:t>
              </a:r>
              <a:r>
                <a:rPr lang="ko-KR" altLang="en-US" sz="800" dirty="0" smtClean="0"/>
                <a:t>입니다</a:t>
              </a:r>
              <a:r>
                <a:rPr lang="en-US" altLang="ko-KR" sz="800" dirty="0" smtClean="0"/>
                <a:t>.</a:t>
              </a:r>
            </a:p>
            <a:p>
              <a:pPr marL="171450" indent="-171450" latinLnBrk="0">
                <a:buFontTx/>
                <a:buChar char="-"/>
              </a:pPr>
              <a:r>
                <a:rPr lang="en-US" altLang="ko-KR" sz="800" dirty="0" smtClean="0"/>
                <a:t>[Lecture Material] </a:t>
              </a:r>
              <a:r>
                <a:rPr lang="ko-KR" altLang="en-US" sz="800" dirty="0" smtClean="0"/>
                <a:t>태그 문서는 개념 설명에 우선 활용</a:t>
              </a:r>
              <a:endParaRPr lang="en-US" altLang="ko-KR" sz="800" dirty="0" smtClean="0"/>
            </a:p>
            <a:p>
              <a:pPr marL="171450" indent="-171450" latinLnBrk="0">
                <a:buFontTx/>
                <a:buChar char="-"/>
              </a:pPr>
              <a:r>
                <a:rPr lang="en-US" altLang="ko-KR" sz="800" dirty="0" smtClean="0"/>
                <a:t>[Practice Problem] </a:t>
              </a:r>
              <a:r>
                <a:rPr lang="ko-KR" altLang="en-US" sz="800" dirty="0" smtClean="0"/>
                <a:t>태그 문서는 시험 유형 분석 및 대비 전략 수립에 활용</a:t>
              </a:r>
              <a:endParaRPr lang="en-US" altLang="ko-KR" sz="800" dirty="0" smtClean="0"/>
            </a:p>
            <a:p>
              <a:pPr marL="171450" indent="-171450" latinLnBrk="0">
                <a:buFontTx/>
                <a:buChar char="-"/>
              </a:pPr>
              <a:r>
                <a:rPr lang="ko-KR" altLang="en-US" sz="800" dirty="0" smtClean="0">
                  <a:solidFill>
                    <a:srgbClr val="FF0000"/>
                  </a:solidFill>
                </a:rPr>
                <a:t>반드시 제공된 문맥 기반으로만 답변</a:t>
              </a:r>
              <a:r>
                <a:rPr lang="en-US" altLang="ko-KR" sz="800" dirty="0" smtClean="0"/>
                <a:t>“ (</a:t>
              </a:r>
              <a:r>
                <a:rPr lang="ko-KR" altLang="en-US" sz="800" dirty="0" smtClean="0"/>
                <a:t>할루시네이션 방지</a:t>
              </a:r>
              <a:r>
                <a:rPr lang="en-US" altLang="ko-KR" sz="800" dirty="0" smtClean="0"/>
                <a:t>)</a:t>
              </a:r>
            </a:p>
            <a:p>
              <a:pPr latinLnBrk="0"/>
              <a:endParaRPr lang="en-US" altLang="ko-KR" sz="800" dirty="0"/>
            </a:p>
            <a:p>
              <a:pPr latinLnBrk="0"/>
              <a:r>
                <a:rPr lang="ko-KR" altLang="en-US" sz="800" dirty="0" smtClean="0"/>
                <a:t>사용자 질문</a:t>
              </a:r>
              <a:r>
                <a:rPr lang="en-US" altLang="ko-KR" sz="800" dirty="0" smtClean="0"/>
                <a:t>(Question)</a:t>
              </a:r>
            </a:p>
            <a:p>
              <a:pPr latinLnBrk="0"/>
              <a:r>
                <a:rPr lang="en-US" altLang="ko-KR" sz="800" dirty="0" smtClean="0">
                  <a:solidFill>
                    <a:srgbClr val="FF0000"/>
                  </a:solidFill>
                </a:rPr>
                <a:t>“</a:t>
              </a:r>
              <a:r>
                <a:rPr lang="ko-KR" altLang="en-US" sz="800" dirty="0" smtClean="0">
                  <a:solidFill>
                    <a:srgbClr val="FF0000"/>
                  </a:solidFill>
                </a:rPr>
                <a:t>시험 문제의 유형은 어떤 게 있어요</a:t>
              </a:r>
              <a:r>
                <a:rPr lang="en-US" altLang="ko-KR" sz="800" dirty="0" smtClean="0">
                  <a:solidFill>
                    <a:srgbClr val="FF0000"/>
                  </a:solidFill>
                </a:rPr>
                <a:t>?”</a:t>
              </a:r>
            </a:p>
            <a:p>
              <a:pPr latinLnBrk="0"/>
              <a:endParaRPr lang="en-US" altLang="ko-KR" sz="800" dirty="0"/>
            </a:p>
            <a:p>
              <a:pPr latinLnBrk="0"/>
              <a:r>
                <a:rPr lang="ko-KR" altLang="en-US" sz="800" dirty="0" smtClean="0"/>
                <a:t>지식 베이스</a:t>
              </a:r>
              <a:r>
                <a:rPr lang="en-US" altLang="ko-KR" sz="800" dirty="0" smtClean="0"/>
                <a:t>(Knowledge Base)</a:t>
              </a:r>
            </a:p>
            <a:p>
              <a:pPr latinLnBrk="0"/>
              <a:r>
                <a:rPr lang="ko-KR" altLang="en-US" sz="800" dirty="0" smtClean="0"/>
                <a:t>메타데이터</a:t>
              </a:r>
              <a:r>
                <a:rPr lang="en-US" altLang="ko-KR" sz="800" dirty="0" smtClean="0"/>
                <a:t>(</a:t>
              </a:r>
              <a:r>
                <a:rPr lang="ko-KR" altLang="en-US" sz="800" dirty="0" smtClean="0"/>
                <a:t>문서 유형</a:t>
              </a:r>
              <a:r>
                <a:rPr lang="en-US" altLang="ko-KR" sz="800" dirty="0" smtClean="0"/>
                <a:t>, </a:t>
              </a:r>
              <a:r>
                <a:rPr lang="ko-KR" altLang="en-US" sz="800" dirty="0" smtClean="0"/>
                <a:t>파일명</a:t>
              </a:r>
              <a:r>
                <a:rPr lang="en-US" altLang="ko-KR" sz="800" dirty="0" smtClean="0"/>
                <a:t>)</a:t>
              </a:r>
              <a:r>
                <a:rPr lang="ko-KR" altLang="en-US" sz="800" dirty="0" smtClean="0"/>
                <a:t>가 태깅된 검색 텍스트 덩어리들</a:t>
              </a:r>
              <a:endParaRPr lang="en-US" altLang="ko-KR" sz="800" dirty="0" smtClean="0"/>
            </a:p>
            <a:p>
              <a:pPr marL="171450" indent="-171450" latinLnBrk="0">
                <a:buFontTx/>
                <a:buChar char="-"/>
              </a:pPr>
              <a:r>
                <a:rPr lang="ko-KR" altLang="en-US" sz="800" dirty="0" smtClean="0"/>
                <a:t>예</a:t>
              </a:r>
              <a:r>
                <a:rPr lang="en-US" altLang="ko-KR" sz="800" dirty="0" smtClean="0"/>
                <a:t>) [Lecture Material] 2) Metals (note).pdf</a:t>
              </a:r>
            </a:p>
          </p:txBody>
        </p:sp>
        <p:cxnSp>
          <p:nvCxnSpPr>
            <p:cNvPr id="38" name="직선 화살표 연결선 37"/>
            <p:cNvCxnSpPr/>
            <p:nvPr/>
          </p:nvCxnSpPr>
          <p:spPr>
            <a:xfrm flipH="1" flipV="1">
              <a:off x="7701519" y="984547"/>
              <a:ext cx="871214" cy="612725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화살표 연결선 55"/>
            <p:cNvCxnSpPr/>
            <p:nvPr/>
          </p:nvCxnSpPr>
          <p:spPr>
            <a:xfrm flipH="1" flipV="1">
              <a:off x="8012389" y="631385"/>
              <a:ext cx="576606" cy="97425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화살표 연결선 58"/>
            <p:cNvCxnSpPr/>
            <p:nvPr/>
          </p:nvCxnSpPr>
          <p:spPr>
            <a:xfrm flipV="1">
              <a:off x="8572733" y="559441"/>
              <a:ext cx="7126" cy="101457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화살표 연결선 64"/>
            <p:cNvCxnSpPr/>
            <p:nvPr/>
          </p:nvCxnSpPr>
          <p:spPr>
            <a:xfrm flipV="1">
              <a:off x="8585193" y="747038"/>
              <a:ext cx="630656" cy="832113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화살표 연결선 66"/>
            <p:cNvCxnSpPr/>
            <p:nvPr/>
          </p:nvCxnSpPr>
          <p:spPr>
            <a:xfrm flipV="1">
              <a:off x="8560701" y="1313424"/>
              <a:ext cx="963045" cy="276476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5" name="그림 7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985529" y="559441"/>
              <a:ext cx="683187" cy="683187"/>
            </a:xfrm>
            <a:prstGeom prst="rect">
              <a:avLst/>
            </a:prstGeom>
          </p:spPr>
        </p:pic>
        <p:pic>
          <p:nvPicPr>
            <p:cNvPr id="77" name="그림 7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13362" y="-6772"/>
              <a:ext cx="955562" cy="716671"/>
            </a:xfrm>
            <a:prstGeom prst="rect">
              <a:avLst/>
            </a:prstGeom>
          </p:spPr>
        </p:pic>
        <p:pic>
          <p:nvPicPr>
            <p:cNvPr id="92" name="그림 91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53841" y="49658"/>
              <a:ext cx="651910" cy="588822"/>
            </a:xfrm>
            <a:prstGeom prst="rect">
              <a:avLst/>
            </a:prstGeom>
          </p:spPr>
        </p:pic>
        <p:pic>
          <p:nvPicPr>
            <p:cNvPr id="99" name="그림 98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256703" y="264865"/>
              <a:ext cx="720000" cy="720000"/>
            </a:xfrm>
            <a:prstGeom prst="rect">
              <a:avLst/>
            </a:prstGeom>
          </p:spPr>
        </p:pic>
        <p:pic>
          <p:nvPicPr>
            <p:cNvPr id="101" name="그림 10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590231" y="935837"/>
              <a:ext cx="807503" cy="807503"/>
            </a:xfrm>
            <a:prstGeom prst="rect">
              <a:avLst/>
            </a:prstGeom>
          </p:spPr>
        </p:pic>
        <p:sp>
          <p:nvSpPr>
            <p:cNvPr id="104" name="TextBox 103"/>
            <p:cNvSpPr txBox="1"/>
            <p:nvPr/>
          </p:nvSpPr>
          <p:spPr>
            <a:xfrm>
              <a:off x="5833079" y="510909"/>
              <a:ext cx="123863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0"/>
              <a:r>
                <a:rPr lang="ko-KR" altLang="en-US" sz="1000" b="1" dirty="0" smtClean="0"/>
                <a:t>핵심 정리</a:t>
              </a:r>
              <a:endParaRPr lang="en-US" altLang="ko-KR" sz="1000" b="1" dirty="0"/>
            </a:p>
            <a:p>
              <a:pPr marL="171450" indent="-171450" latinLnBrk="0">
                <a:buFontTx/>
                <a:buChar char="-"/>
              </a:pPr>
              <a:r>
                <a:rPr lang="ko-KR" altLang="en-US" sz="1000" dirty="0" smtClean="0"/>
                <a:t>핵심 내용 요약</a:t>
              </a:r>
              <a:endParaRPr lang="en-US" altLang="ko-KR" sz="1000" dirty="0"/>
            </a:p>
            <a:p>
              <a:pPr marL="171450" indent="-171450" latinLnBrk="0">
                <a:buFontTx/>
                <a:buChar char="-"/>
              </a:pPr>
              <a:r>
                <a:rPr lang="ko-KR" altLang="en-US" sz="1000" dirty="0" smtClean="0"/>
                <a:t>상세 요약표</a:t>
              </a:r>
              <a:endParaRPr lang="en-US" altLang="ko-KR" sz="1000" dirty="0"/>
            </a:p>
            <a:p>
              <a:pPr marL="171450" indent="-171450" latinLnBrk="0">
                <a:buFontTx/>
                <a:buChar char="-"/>
              </a:pPr>
              <a:r>
                <a:rPr lang="ko-KR" altLang="en-US" sz="1000" dirty="0" smtClean="0"/>
                <a:t>용어 정리표</a:t>
              </a:r>
              <a:endParaRPr lang="en-US" altLang="ko-KR" sz="1000" dirty="0" smtClean="0"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5962217" y="10666"/>
              <a:ext cx="158079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0"/>
              <a:r>
                <a:rPr lang="ko-KR" altLang="en-US" sz="1000" b="1" dirty="0" smtClean="0"/>
                <a:t>시각화</a:t>
              </a:r>
              <a:endParaRPr lang="en-US" altLang="ko-KR" sz="1000" b="1" dirty="0"/>
            </a:p>
            <a:p>
              <a:pPr marL="171450" indent="-171450" latinLnBrk="0">
                <a:buFontTx/>
                <a:buChar char="-"/>
              </a:pPr>
              <a:r>
                <a:rPr lang="ko-KR" altLang="en-US" sz="1000" dirty="0" smtClean="0"/>
                <a:t>마인드맵</a:t>
              </a:r>
              <a:endParaRPr lang="en-US" altLang="ko-KR" sz="1000" dirty="0"/>
            </a:p>
            <a:p>
              <a:pPr marL="171450" indent="-171450" latinLnBrk="0">
                <a:buFontTx/>
                <a:buChar char="-"/>
              </a:pPr>
              <a:r>
                <a:rPr lang="ko-KR" altLang="en-US" sz="1000" dirty="0" smtClean="0"/>
                <a:t>스파이더 다이어그램</a:t>
              </a:r>
              <a:endParaRPr lang="en-US" altLang="ko-KR" sz="1000" dirty="0"/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8805746" y="14027"/>
              <a:ext cx="90191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0"/>
              <a:r>
                <a:rPr lang="ko-KR" altLang="en-US" sz="1000" b="1" dirty="0" smtClean="0"/>
                <a:t>플래시 카드</a:t>
              </a:r>
              <a:endParaRPr lang="en-US" altLang="ko-KR" sz="1000" b="1" dirty="0"/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9954456" y="503063"/>
              <a:ext cx="4655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0"/>
              <a:r>
                <a:rPr lang="ko-KR" altLang="en-US" sz="1000" b="1" dirty="0" smtClean="0"/>
                <a:t>퀴즈</a:t>
              </a:r>
              <a:endParaRPr lang="en-US" altLang="ko-KR" sz="1000" b="1" dirty="0"/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10377643" y="1194040"/>
              <a:ext cx="101261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0"/>
              <a:r>
                <a:rPr lang="ko-KR" altLang="en-US" sz="1000" b="1" smtClean="0"/>
                <a:t>오디오 브리핑</a:t>
              </a:r>
              <a:endParaRPr lang="en-US" altLang="ko-KR" sz="1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350380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ctr" latinLnBrk="0">
          <a:defRPr sz="1000" b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669</TotalTime>
  <Words>720</Words>
  <Application>Microsoft Office PowerPoint</Application>
  <PresentationFormat>와이드스크린</PresentationFormat>
  <Paragraphs>135</Paragraphs>
  <Slides>2</Slides>
  <Notes>0</Notes>
  <HiddenSlides>2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asia</dc:creator>
  <cp:lastModifiedBy>asia</cp:lastModifiedBy>
  <cp:revision>76</cp:revision>
  <dcterms:created xsi:type="dcterms:W3CDTF">2026-02-19T16:21:33Z</dcterms:created>
  <dcterms:modified xsi:type="dcterms:W3CDTF">2026-04-11T13:14:57Z</dcterms:modified>
</cp:coreProperties>
</file>